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5" r:id="rId9"/>
    <p:sldId id="263" r:id="rId10"/>
    <p:sldId id="264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50" d="100"/>
          <a:sy n="150" d="100"/>
        </p:scale>
        <p:origin x="654" y="13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álint Lojt" userId="863f185787a3c957" providerId="LiveId" clId="{DCFA6AE5-C2F3-4BB8-BBDF-363CC26A121D}"/>
    <pc:docChg chg="undo custSel addSld delSld modSld">
      <pc:chgData name="Bálint Lojt" userId="863f185787a3c957" providerId="LiveId" clId="{DCFA6AE5-C2F3-4BB8-BBDF-363CC26A121D}" dt="2026-09-04T08:46:49.961" v="845" actId="1076"/>
      <pc:docMkLst>
        <pc:docMk/>
      </pc:docMkLst>
      <pc:sldChg chg="addSp delSp modSp mod">
        <pc:chgData name="Bálint Lojt" userId="863f185787a3c957" providerId="LiveId" clId="{DCFA6AE5-C2F3-4BB8-BBDF-363CC26A121D}" dt="2026-09-04T08:46:49.961" v="845" actId="1076"/>
        <pc:sldMkLst>
          <pc:docMk/>
          <pc:sldMk cId="0" sldId="256"/>
        </pc:sldMkLst>
        <pc:spChg chg="mod">
          <ac:chgData name="Bálint Lojt" userId="863f185787a3c957" providerId="LiveId" clId="{DCFA6AE5-C2F3-4BB8-BBDF-363CC26A121D}" dt="2026-09-04T08:38:10.885" v="784" actId="1076"/>
          <ac:spMkLst>
            <pc:docMk/>
            <pc:sldMk cId="0" sldId="256"/>
            <ac:spMk id="7" creationId="{00000000-0000-0000-0000-000000000000}"/>
          </ac:spMkLst>
        </pc:spChg>
        <pc:spChg chg="add mod">
          <ac:chgData name="Bálint Lojt" userId="863f185787a3c957" providerId="LiveId" clId="{DCFA6AE5-C2F3-4BB8-BBDF-363CC26A121D}" dt="2026-09-04T08:46:49.961" v="845" actId="1076"/>
          <ac:spMkLst>
            <pc:docMk/>
            <pc:sldMk cId="0" sldId="256"/>
            <ac:spMk id="12" creationId="{7A01BC67-3678-1964-150E-9B9B178E7B19}"/>
          </ac:spMkLst>
        </pc:spChg>
        <pc:picChg chg="del">
          <ac:chgData name="Bálint Lojt" userId="863f185787a3c957" providerId="LiveId" clId="{DCFA6AE5-C2F3-4BB8-BBDF-363CC26A121D}" dt="2026-09-03T20:14:24.112" v="208" actId="478"/>
          <ac:picMkLst>
            <pc:docMk/>
            <pc:sldMk cId="0" sldId="256"/>
            <ac:picMk id="3" creationId="{00000000-0000-0000-0000-000000000000}"/>
          </ac:picMkLst>
        </pc:picChg>
        <pc:picChg chg="add mod">
          <ac:chgData name="Bálint Lojt" userId="863f185787a3c957" providerId="LiveId" clId="{DCFA6AE5-C2F3-4BB8-BBDF-363CC26A121D}" dt="2026-09-03T20:14:51.904" v="213" actId="1076"/>
          <ac:picMkLst>
            <pc:docMk/>
            <pc:sldMk cId="0" sldId="256"/>
            <ac:picMk id="10" creationId="{0EB17D23-D5D6-C298-1457-014B295908F9}"/>
          </ac:picMkLst>
        </pc:picChg>
      </pc:sldChg>
      <pc:sldChg chg="modSp mod">
        <pc:chgData name="Bálint Lojt" userId="863f185787a3c957" providerId="LiveId" clId="{DCFA6AE5-C2F3-4BB8-BBDF-363CC26A121D}" dt="2026-09-03T20:14:07.954" v="207" actId="20577"/>
        <pc:sldMkLst>
          <pc:docMk/>
          <pc:sldMk cId="0" sldId="257"/>
        </pc:sldMkLst>
        <pc:spChg chg="mod">
          <ac:chgData name="Bálint Lojt" userId="863f185787a3c957" providerId="LiveId" clId="{DCFA6AE5-C2F3-4BB8-BBDF-363CC26A121D}" dt="2026-09-03T20:14:07.954" v="207" actId="20577"/>
          <ac:spMkLst>
            <pc:docMk/>
            <pc:sldMk cId="0" sldId="257"/>
            <ac:spMk id="4" creationId="{00000000-0000-0000-0000-000000000000}"/>
          </ac:spMkLst>
        </pc:spChg>
        <pc:spChg chg="mod">
          <ac:chgData name="Bálint Lojt" userId="863f185787a3c957" providerId="LiveId" clId="{DCFA6AE5-C2F3-4BB8-BBDF-363CC26A121D}" dt="2026-09-03T19:08:24.664" v="119" actId="20577"/>
          <ac:spMkLst>
            <pc:docMk/>
            <pc:sldMk cId="0" sldId="257"/>
            <ac:spMk id="22" creationId="{00000000-0000-0000-0000-000000000000}"/>
          </ac:spMkLst>
        </pc:spChg>
      </pc:sldChg>
      <pc:sldChg chg="addSp delSp modSp mod">
        <pc:chgData name="Bálint Lojt" userId="863f185787a3c957" providerId="LiveId" clId="{DCFA6AE5-C2F3-4BB8-BBDF-363CC26A121D}" dt="2026-09-03T19:13:00.874" v="135" actId="478"/>
        <pc:sldMkLst>
          <pc:docMk/>
          <pc:sldMk cId="0" sldId="258"/>
        </pc:sldMkLst>
        <pc:spChg chg="del">
          <ac:chgData name="Bálint Lojt" userId="863f185787a3c957" providerId="LiveId" clId="{DCFA6AE5-C2F3-4BB8-BBDF-363CC26A121D}" dt="2026-09-03T19:12:17.460" v="132" actId="478"/>
          <ac:spMkLst>
            <pc:docMk/>
            <pc:sldMk cId="0" sldId="258"/>
            <ac:spMk id="4" creationId="{00000000-0000-0000-0000-000000000000}"/>
          </ac:spMkLst>
        </pc:spChg>
        <pc:spChg chg="del">
          <ac:chgData name="Bálint Lojt" userId="863f185787a3c957" providerId="LiveId" clId="{DCFA6AE5-C2F3-4BB8-BBDF-363CC26A121D}" dt="2026-09-03T19:12:57.742" v="133" actId="478"/>
          <ac:spMkLst>
            <pc:docMk/>
            <pc:sldMk cId="0" sldId="258"/>
            <ac:spMk id="9" creationId="{00000000-0000-0000-0000-000000000000}"/>
          </ac:spMkLst>
        </pc:spChg>
        <pc:spChg chg="del">
          <ac:chgData name="Bálint Lojt" userId="863f185787a3c957" providerId="LiveId" clId="{DCFA6AE5-C2F3-4BB8-BBDF-363CC26A121D}" dt="2026-09-03T19:12:59.416" v="134" actId="478"/>
          <ac:spMkLst>
            <pc:docMk/>
            <pc:sldMk cId="0" sldId="258"/>
            <ac:spMk id="10" creationId="{00000000-0000-0000-0000-000000000000}"/>
          </ac:spMkLst>
        </pc:spChg>
        <pc:spChg chg="del">
          <ac:chgData name="Bálint Lojt" userId="863f185787a3c957" providerId="LiveId" clId="{DCFA6AE5-C2F3-4BB8-BBDF-363CC26A121D}" dt="2026-09-03T19:13:00.874" v="135" actId="478"/>
          <ac:spMkLst>
            <pc:docMk/>
            <pc:sldMk cId="0" sldId="258"/>
            <ac:spMk id="11" creationId="{00000000-0000-0000-0000-000000000000}"/>
          </ac:spMkLst>
        </pc:spChg>
        <pc:graphicFrameChg chg="add mod">
          <ac:chgData name="Bálint Lojt" userId="863f185787a3c957" providerId="LiveId" clId="{DCFA6AE5-C2F3-4BB8-BBDF-363CC26A121D}" dt="2026-09-03T19:10:06.434" v="124"/>
          <ac:graphicFrameMkLst>
            <pc:docMk/>
            <pc:sldMk cId="0" sldId="258"/>
            <ac:graphicFrameMk id="13" creationId="{C09830ED-8A82-DC65-1DA0-59B04536B9C7}"/>
          </ac:graphicFrameMkLst>
        </pc:graphicFrameChg>
        <pc:picChg chg="add del">
          <ac:chgData name="Bálint Lojt" userId="863f185787a3c957" providerId="LiveId" clId="{DCFA6AE5-C2F3-4BB8-BBDF-363CC26A121D}" dt="2026-09-03T19:11:48.107" v="126" actId="478"/>
          <ac:picMkLst>
            <pc:docMk/>
            <pc:sldMk cId="0" sldId="258"/>
            <ac:picMk id="5" creationId="{00000000-0000-0000-0000-000000000000}"/>
          </ac:picMkLst>
        </pc:picChg>
        <pc:picChg chg="add mod">
          <ac:chgData name="Bálint Lojt" userId="863f185787a3c957" providerId="LiveId" clId="{DCFA6AE5-C2F3-4BB8-BBDF-363CC26A121D}" dt="2026-09-03T19:12:04.252" v="131" actId="14100"/>
          <ac:picMkLst>
            <pc:docMk/>
            <pc:sldMk cId="0" sldId="258"/>
            <ac:picMk id="15" creationId="{A22F9EFD-FFE1-69E3-3071-A6EA52181FCC}"/>
          </ac:picMkLst>
        </pc:picChg>
      </pc:sldChg>
      <pc:sldChg chg="delSp mod">
        <pc:chgData name="Bálint Lojt" userId="863f185787a3c957" providerId="LiveId" clId="{DCFA6AE5-C2F3-4BB8-BBDF-363CC26A121D}" dt="2026-09-03T19:13:22.192" v="139" actId="478"/>
        <pc:sldMkLst>
          <pc:docMk/>
          <pc:sldMk cId="0" sldId="259"/>
        </pc:sldMkLst>
        <pc:spChg chg="del">
          <ac:chgData name="Bálint Lojt" userId="863f185787a3c957" providerId="LiveId" clId="{DCFA6AE5-C2F3-4BB8-BBDF-363CC26A121D}" dt="2026-09-03T19:13:22.192" v="139" actId="478"/>
          <ac:spMkLst>
            <pc:docMk/>
            <pc:sldMk cId="0" sldId="259"/>
            <ac:spMk id="4" creationId="{00000000-0000-0000-0000-000000000000}"/>
          </ac:spMkLst>
        </pc:spChg>
        <pc:spChg chg="del">
          <ac:chgData name="Bálint Lojt" userId="863f185787a3c957" providerId="LiveId" clId="{DCFA6AE5-C2F3-4BB8-BBDF-363CC26A121D}" dt="2026-09-03T19:13:12.794" v="138" actId="478"/>
          <ac:spMkLst>
            <pc:docMk/>
            <pc:sldMk cId="0" sldId="259"/>
            <ac:spMk id="9" creationId="{00000000-0000-0000-0000-000000000000}"/>
          </ac:spMkLst>
        </pc:spChg>
        <pc:spChg chg="del">
          <ac:chgData name="Bálint Lojt" userId="863f185787a3c957" providerId="LiveId" clId="{DCFA6AE5-C2F3-4BB8-BBDF-363CC26A121D}" dt="2026-09-03T19:13:11.577" v="137" actId="478"/>
          <ac:spMkLst>
            <pc:docMk/>
            <pc:sldMk cId="0" sldId="259"/>
            <ac:spMk id="10" creationId="{00000000-0000-0000-0000-000000000000}"/>
          </ac:spMkLst>
        </pc:spChg>
        <pc:spChg chg="del">
          <ac:chgData name="Bálint Lojt" userId="863f185787a3c957" providerId="LiveId" clId="{DCFA6AE5-C2F3-4BB8-BBDF-363CC26A121D}" dt="2026-09-03T19:13:10.688" v="136" actId="478"/>
          <ac:spMkLst>
            <pc:docMk/>
            <pc:sldMk cId="0" sldId="259"/>
            <ac:spMk id="11" creationId="{00000000-0000-0000-0000-000000000000}"/>
          </ac:spMkLst>
        </pc:spChg>
      </pc:sldChg>
      <pc:sldChg chg="addSp delSp modSp mod">
        <pc:chgData name="Bálint Lojt" userId="863f185787a3c957" providerId="LiveId" clId="{DCFA6AE5-C2F3-4BB8-BBDF-363CC26A121D}" dt="2026-09-03T19:17:07.325" v="172" actId="478"/>
        <pc:sldMkLst>
          <pc:docMk/>
          <pc:sldMk cId="0" sldId="260"/>
        </pc:sldMkLst>
        <pc:spChg chg="del">
          <ac:chgData name="Bálint Lojt" userId="863f185787a3c957" providerId="LiveId" clId="{DCFA6AE5-C2F3-4BB8-BBDF-363CC26A121D}" dt="2026-09-03T19:14:17.640" v="140" actId="478"/>
          <ac:spMkLst>
            <pc:docMk/>
            <pc:sldMk cId="0" sldId="260"/>
            <ac:spMk id="4" creationId="{00000000-0000-0000-0000-000000000000}"/>
          </ac:spMkLst>
        </pc:spChg>
        <pc:spChg chg="mod">
          <ac:chgData name="Bálint Lojt" userId="863f185787a3c957" providerId="LiveId" clId="{DCFA6AE5-C2F3-4BB8-BBDF-363CC26A121D}" dt="2026-09-03T19:15:02.705" v="145" actId="20577"/>
          <ac:spMkLst>
            <pc:docMk/>
            <pc:sldMk cId="0" sldId="260"/>
            <ac:spMk id="8" creationId="{00000000-0000-0000-0000-000000000000}"/>
          </ac:spMkLst>
        </pc:spChg>
        <pc:spChg chg="mod">
          <ac:chgData name="Bálint Lojt" userId="863f185787a3c957" providerId="LiveId" clId="{DCFA6AE5-C2F3-4BB8-BBDF-363CC26A121D}" dt="2026-09-03T19:16:14.135" v="146" actId="20577"/>
          <ac:spMkLst>
            <pc:docMk/>
            <pc:sldMk cId="0" sldId="260"/>
            <ac:spMk id="16" creationId="{00000000-0000-0000-0000-000000000000}"/>
          </ac:spMkLst>
        </pc:spChg>
        <pc:spChg chg="add del mod">
          <ac:chgData name="Bálint Lojt" userId="863f185787a3c957" providerId="LiveId" clId="{DCFA6AE5-C2F3-4BB8-BBDF-363CC26A121D}" dt="2026-09-03T19:16:31.208" v="163" actId="20577"/>
          <ac:spMkLst>
            <pc:docMk/>
            <pc:sldMk cId="0" sldId="260"/>
            <ac:spMk id="20" creationId="{00000000-0000-0000-0000-000000000000}"/>
          </ac:spMkLst>
        </pc:spChg>
        <pc:spChg chg="del">
          <ac:chgData name="Bálint Lojt" userId="863f185787a3c957" providerId="LiveId" clId="{DCFA6AE5-C2F3-4BB8-BBDF-363CC26A121D}" dt="2026-09-03T19:16:59.686" v="165" actId="478"/>
          <ac:spMkLst>
            <pc:docMk/>
            <pc:sldMk cId="0" sldId="260"/>
            <ac:spMk id="21" creationId="{00000000-0000-0000-0000-000000000000}"/>
          </ac:spMkLst>
        </pc:spChg>
        <pc:spChg chg="del">
          <ac:chgData name="Bálint Lojt" userId="863f185787a3c957" providerId="LiveId" clId="{DCFA6AE5-C2F3-4BB8-BBDF-363CC26A121D}" dt="2026-09-03T19:16:59.057" v="164" actId="478"/>
          <ac:spMkLst>
            <pc:docMk/>
            <pc:sldMk cId="0" sldId="260"/>
            <ac:spMk id="22" creationId="{00000000-0000-0000-0000-000000000000}"/>
          </ac:spMkLst>
        </pc:spChg>
        <pc:spChg chg="del mod">
          <ac:chgData name="Bálint Lojt" userId="863f185787a3c957" providerId="LiveId" clId="{DCFA6AE5-C2F3-4BB8-BBDF-363CC26A121D}" dt="2026-09-03T19:17:01.205" v="167" actId="478"/>
          <ac:spMkLst>
            <pc:docMk/>
            <pc:sldMk cId="0" sldId="260"/>
            <ac:spMk id="23" creationId="{00000000-0000-0000-0000-000000000000}"/>
          </ac:spMkLst>
        </pc:spChg>
        <pc:spChg chg="del">
          <ac:chgData name="Bálint Lojt" userId="863f185787a3c957" providerId="LiveId" clId="{DCFA6AE5-C2F3-4BB8-BBDF-363CC26A121D}" dt="2026-09-03T19:17:02.513" v="168" actId="478"/>
          <ac:spMkLst>
            <pc:docMk/>
            <pc:sldMk cId="0" sldId="260"/>
            <ac:spMk id="24" creationId="{00000000-0000-0000-0000-000000000000}"/>
          </ac:spMkLst>
        </pc:spChg>
        <pc:spChg chg="del">
          <ac:chgData name="Bálint Lojt" userId="863f185787a3c957" providerId="LiveId" clId="{DCFA6AE5-C2F3-4BB8-BBDF-363CC26A121D}" dt="2026-09-03T19:17:05.273" v="169" actId="478"/>
          <ac:spMkLst>
            <pc:docMk/>
            <pc:sldMk cId="0" sldId="260"/>
            <ac:spMk id="25" creationId="{00000000-0000-0000-0000-000000000000}"/>
          </ac:spMkLst>
        </pc:spChg>
        <pc:spChg chg="del mod">
          <ac:chgData name="Bálint Lojt" userId="863f185787a3c957" providerId="LiveId" clId="{DCFA6AE5-C2F3-4BB8-BBDF-363CC26A121D}" dt="2026-09-03T19:17:06.697" v="171" actId="478"/>
          <ac:spMkLst>
            <pc:docMk/>
            <pc:sldMk cId="0" sldId="260"/>
            <ac:spMk id="26" creationId="{00000000-0000-0000-0000-000000000000}"/>
          </ac:spMkLst>
        </pc:spChg>
        <pc:spChg chg="del">
          <ac:chgData name="Bálint Lojt" userId="863f185787a3c957" providerId="LiveId" clId="{DCFA6AE5-C2F3-4BB8-BBDF-363CC26A121D}" dt="2026-09-03T19:17:07.325" v="172" actId="478"/>
          <ac:spMkLst>
            <pc:docMk/>
            <pc:sldMk cId="0" sldId="260"/>
            <ac:spMk id="27" creationId="{00000000-0000-0000-0000-000000000000}"/>
          </ac:spMkLst>
        </pc:spChg>
      </pc:sldChg>
      <pc:sldChg chg="modSp mod">
        <pc:chgData name="Bálint Lojt" userId="863f185787a3c957" providerId="LiveId" clId="{DCFA6AE5-C2F3-4BB8-BBDF-363CC26A121D}" dt="2026-09-04T07:09:05.778" v="215" actId="1076"/>
        <pc:sldMkLst>
          <pc:docMk/>
          <pc:sldMk cId="0" sldId="261"/>
        </pc:sldMkLst>
        <pc:spChg chg="mod">
          <ac:chgData name="Bálint Lojt" userId="863f185787a3c957" providerId="LiveId" clId="{DCFA6AE5-C2F3-4BB8-BBDF-363CC26A121D}" dt="2026-09-04T07:09:00.673" v="214" actId="1076"/>
          <ac:spMkLst>
            <pc:docMk/>
            <pc:sldMk cId="0" sldId="261"/>
            <ac:spMk id="6" creationId="{00000000-0000-0000-0000-000000000000}"/>
          </ac:spMkLst>
        </pc:spChg>
        <pc:spChg chg="mod">
          <ac:chgData name="Bálint Lojt" userId="863f185787a3c957" providerId="LiveId" clId="{DCFA6AE5-C2F3-4BB8-BBDF-363CC26A121D}" dt="2026-09-04T07:09:05.778" v="215" actId="1076"/>
          <ac:spMkLst>
            <pc:docMk/>
            <pc:sldMk cId="0" sldId="261"/>
            <ac:spMk id="9" creationId="{00000000-0000-0000-0000-000000000000}"/>
          </ac:spMkLst>
        </pc:spChg>
      </pc:sldChg>
      <pc:sldChg chg="modSp mod">
        <pc:chgData name="Bálint Lojt" userId="863f185787a3c957" providerId="LiveId" clId="{DCFA6AE5-C2F3-4BB8-BBDF-363CC26A121D}" dt="2026-09-04T08:33:48.797" v="767" actId="20577"/>
        <pc:sldMkLst>
          <pc:docMk/>
          <pc:sldMk cId="0" sldId="262"/>
        </pc:sldMkLst>
        <pc:spChg chg="mod">
          <ac:chgData name="Bálint Lojt" userId="863f185787a3c957" providerId="LiveId" clId="{DCFA6AE5-C2F3-4BB8-BBDF-363CC26A121D}" dt="2026-09-04T08:33:31.816" v="764" actId="20577"/>
          <ac:spMkLst>
            <pc:docMk/>
            <pc:sldMk cId="0" sldId="262"/>
            <ac:spMk id="7" creationId="{00000000-0000-0000-0000-000000000000}"/>
          </ac:spMkLst>
        </pc:spChg>
        <pc:spChg chg="mod">
          <ac:chgData name="Bálint Lojt" userId="863f185787a3c957" providerId="LiveId" clId="{DCFA6AE5-C2F3-4BB8-BBDF-363CC26A121D}" dt="2026-09-04T08:33:48.797" v="767" actId="20577"/>
          <ac:spMkLst>
            <pc:docMk/>
            <pc:sldMk cId="0" sldId="262"/>
            <ac:spMk id="10" creationId="{00000000-0000-0000-0000-000000000000}"/>
          </ac:spMkLst>
        </pc:spChg>
        <pc:spChg chg="mod">
          <ac:chgData name="Bálint Lojt" userId="863f185787a3c957" providerId="LiveId" clId="{DCFA6AE5-C2F3-4BB8-BBDF-363CC26A121D}" dt="2026-09-04T08:33:28.002" v="762" actId="20577"/>
          <ac:spMkLst>
            <pc:docMk/>
            <pc:sldMk cId="0" sldId="262"/>
            <ac:spMk id="13" creationId="{00000000-0000-0000-0000-000000000000}"/>
          </ac:spMkLst>
        </pc:spChg>
      </pc:sldChg>
      <pc:sldChg chg="modSp mod">
        <pc:chgData name="Bálint Lojt" userId="863f185787a3c957" providerId="LiveId" clId="{DCFA6AE5-C2F3-4BB8-BBDF-363CC26A121D}" dt="2026-09-04T08:45:36.235" v="817" actId="20577"/>
        <pc:sldMkLst>
          <pc:docMk/>
          <pc:sldMk cId="0" sldId="263"/>
        </pc:sldMkLst>
        <pc:spChg chg="mod">
          <ac:chgData name="Bálint Lojt" userId="863f185787a3c957" providerId="LiveId" clId="{DCFA6AE5-C2F3-4BB8-BBDF-363CC26A121D}" dt="2026-09-04T08:45:36.235" v="817" actId="20577"/>
          <ac:spMkLst>
            <pc:docMk/>
            <pc:sldMk cId="0" sldId="263"/>
            <ac:spMk id="4" creationId="{00000000-0000-0000-0000-000000000000}"/>
          </ac:spMkLst>
        </pc:spChg>
      </pc:sldChg>
      <pc:sldChg chg="addSp delSp modSp mod">
        <pc:chgData name="Bálint Lojt" userId="863f185787a3c957" providerId="LiveId" clId="{DCFA6AE5-C2F3-4BB8-BBDF-363CC26A121D}" dt="2026-09-03T20:12:08.261" v="201" actId="20577"/>
        <pc:sldMkLst>
          <pc:docMk/>
          <pc:sldMk cId="0" sldId="264"/>
        </pc:sldMkLst>
        <pc:spChg chg="mod">
          <ac:chgData name="Bálint Lojt" userId="863f185787a3c957" providerId="LiveId" clId="{DCFA6AE5-C2F3-4BB8-BBDF-363CC26A121D}" dt="2026-09-03T20:12:08.261" v="201" actId="20577"/>
          <ac:spMkLst>
            <pc:docMk/>
            <pc:sldMk cId="0" sldId="264"/>
            <ac:spMk id="5" creationId="{00000000-0000-0000-0000-000000000000}"/>
          </ac:spMkLst>
        </pc:spChg>
        <pc:picChg chg="del">
          <ac:chgData name="Bálint Lojt" userId="863f185787a3c957" providerId="LiveId" clId="{DCFA6AE5-C2F3-4BB8-BBDF-363CC26A121D}" dt="2026-09-03T20:03:42.426" v="181" actId="478"/>
          <ac:picMkLst>
            <pc:docMk/>
            <pc:sldMk cId="0" sldId="264"/>
            <ac:picMk id="7" creationId="{00000000-0000-0000-0000-000000000000}"/>
          </ac:picMkLst>
        </pc:picChg>
        <pc:picChg chg="add mod">
          <ac:chgData name="Bálint Lojt" userId="863f185787a3c957" providerId="LiveId" clId="{DCFA6AE5-C2F3-4BB8-BBDF-363CC26A121D}" dt="2026-09-03T20:04:22.692" v="188" actId="14100"/>
          <ac:picMkLst>
            <pc:docMk/>
            <pc:sldMk cId="0" sldId="264"/>
            <ac:picMk id="10" creationId="{0D3766F6-8F2C-EC4E-D5B7-B9A412A05D4A}"/>
          </ac:picMkLst>
        </pc:picChg>
      </pc:sldChg>
      <pc:sldChg chg="new del">
        <pc:chgData name="Bálint Lojt" userId="863f185787a3c957" providerId="LiveId" clId="{DCFA6AE5-C2F3-4BB8-BBDF-363CC26A121D}" dt="2026-09-04T08:18:41.176" v="217" actId="680"/>
        <pc:sldMkLst>
          <pc:docMk/>
          <pc:sldMk cId="112421263" sldId="265"/>
        </pc:sldMkLst>
      </pc:sldChg>
      <pc:sldChg chg="addSp delSp modSp add mod">
        <pc:chgData name="Bálint Lojt" userId="863f185787a3c957" providerId="LiveId" clId="{DCFA6AE5-C2F3-4BB8-BBDF-363CC26A121D}" dt="2026-09-04T08:32:34.969" v="751" actId="12"/>
        <pc:sldMkLst>
          <pc:docMk/>
          <pc:sldMk cId="312468629" sldId="265"/>
        </pc:sldMkLst>
        <pc:spChg chg="mod">
          <ac:chgData name="Bálint Lojt" userId="863f185787a3c957" providerId="LiveId" clId="{DCFA6AE5-C2F3-4BB8-BBDF-363CC26A121D}" dt="2026-09-04T08:18:55.209" v="238" actId="20577"/>
          <ac:spMkLst>
            <pc:docMk/>
            <pc:sldMk cId="312468629" sldId="265"/>
            <ac:spMk id="3" creationId="{6250ABDB-1EA4-36CA-8AD1-D8AA14CEF837}"/>
          </ac:spMkLst>
        </pc:spChg>
        <pc:spChg chg="del">
          <ac:chgData name="Bálint Lojt" userId="863f185787a3c957" providerId="LiveId" clId="{DCFA6AE5-C2F3-4BB8-BBDF-363CC26A121D}" dt="2026-09-04T08:19:00.347" v="239" actId="478"/>
          <ac:spMkLst>
            <pc:docMk/>
            <pc:sldMk cId="312468629" sldId="265"/>
            <ac:spMk id="4" creationId="{BF9CD51B-2459-C7D4-B0ED-BC51E655F611}"/>
          </ac:spMkLst>
        </pc:spChg>
        <pc:spChg chg="mod">
          <ac:chgData name="Bálint Lojt" userId="863f185787a3c957" providerId="LiveId" clId="{DCFA6AE5-C2F3-4BB8-BBDF-363CC26A121D}" dt="2026-09-04T08:23:21.405" v="462" actId="1076"/>
          <ac:spMkLst>
            <pc:docMk/>
            <pc:sldMk cId="312468629" sldId="265"/>
            <ac:spMk id="5" creationId="{2FD6A7D8-2B3D-17CB-79EF-FFD26BE7A75A}"/>
          </ac:spMkLst>
        </pc:spChg>
        <pc:spChg chg="mod">
          <ac:chgData name="Bálint Lojt" userId="863f185787a3c957" providerId="LiveId" clId="{DCFA6AE5-C2F3-4BB8-BBDF-363CC26A121D}" dt="2026-09-04T08:23:17.682" v="461" actId="1076"/>
          <ac:spMkLst>
            <pc:docMk/>
            <pc:sldMk cId="312468629" sldId="265"/>
            <ac:spMk id="6" creationId="{AC598868-3DF1-B463-EA5A-8902BD266E64}"/>
          </ac:spMkLst>
        </pc:spChg>
        <pc:spChg chg="mod">
          <ac:chgData name="Bálint Lojt" userId="863f185787a3c957" providerId="LiveId" clId="{DCFA6AE5-C2F3-4BB8-BBDF-363CC26A121D}" dt="2026-09-04T08:32:34.969" v="751" actId="12"/>
          <ac:spMkLst>
            <pc:docMk/>
            <pc:sldMk cId="312468629" sldId="265"/>
            <ac:spMk id="7" creationId="{550FC249-FC9D-8171-C958-B6D9C8655B9F}"/>
          </ac:spMkLst>
        </pc:spChg>
        <pc:spChg chg="mod">
          <ac:chgData name="Bálint Lojt" userId="863f185787a3c957" providerId="LiveId" clId="{DCFA6AE5-C2F3-4BB8-BBDF-363CC26A121D}" dt="2026-09-04T08:23:43.437" v="467" actId="1076"/>
          <ac:spMkLst>
            <pc:docMk/>
            <pc:sldMk cId="312468629" sldId="265"/>
            <ac:spMk id="8" creationId="{DC474F01-06F9-91AF-5231-4AA30FFA1F80}"/>
          </ac:spMkLst>
        </pc:spChg>
        <pc:spChg chg="mod">
          <ac:chgData name="Bálint Lojt" userId="863f185787a3c957" providerId="LiveId" clId="{DCFA6AE5-C2F3-4BB8-BBDF-363CC26A121D}" dt="2026-09-04T08:23:47.865" v="468" actId="1076"/>
          <ac:spMkLst>
            <pc:docMk/>
            <pc:sldMk cId="312468629" sldId="265"/>
            <ac:spMk id="9" creationId="{160FBB1E-3B79-9A79-5757-2B08AF5AA9E3}"/>
          </ac:spMkLst>
        </pc:spChg>
        <pc:spChg chg="mod">
          <ac:chgData name="Bálint Lojt" userId="863f185787a3c957" providerId="LiveId" clId="{DCFA6AE5-C2F3-4BB8-BBDF-363CC26A121D}" dt="2026-09-04T08:32:09.185" v="740" actId="20577"/>
          <ac:spMkLst>
            <pc:docMk/>
            <pc:sldMk cId="312468629" sldId="265"/>
            <ac:spMk id="10" creationId="{0DCC137F-616D-A82E-1D7A-A68BCE9A5A09}"/>
          </ac:spMkLst>
        </pc:spChg>
        <pc:spChg chg="mod">
          <ac:chgData name="Bálint Lojt" userId="863f185787a3c957" providerId="LiveId" clId="{DCFA6AE5-C2F3-4BB8-BBDF-363CC26A121D}" dt="2026-09-04T08:23:28.998" v="464" actId="1076"/>
          <ac:spMkLst>
            <pc:docMk/>
            <pc:sldMk cId="312468629" sldId="265"/>
            <ac:spMk id="11" creationId="{321D1D63-E583-315E-20FE-AAE10E2241C6}"/>
          </ac:spMkLst>
        </pc:spChg>
        <pc:spChg chg="mod">
          <ac:chgData name="Bálint Lojt" userId="863f185787a3c957" providerId="LiveId" clId="{DCFA6AE5-C2F3-4BB8-BBDF-363CC26A121D}" dt="2026-09-04T08:23:32.321" v="465" actId="1076"/>
          <ac:spMkLst>
            <pc:docMk/>
            <pc:sldMk cId="312468629" sldId="265"/>
            <ac:spMk id="12" creationId="{C646EEC9-F500-D996-ABD1-85B19CC71295}"/>
          </ac:spMkLst>
        </pc:spChg>
        <pc:spChg chg="mod">
          <ac:chgData name="Bálint Lojt" userId="863f185787a3c957" providerId="LiveId" clId="{DCFA6AE5-C2F3-4BB8-BBDF-363CC26A121D}" dt="2026-09-04T08:32:30.755" v="750" actId="20577"/>
          <ac:spMkLst>
            <pc:docMk/>
            <pc:sldMk cId="312468629" sldId="265"/>
            <ac:spMk id="13" creationId="{196CF847-DD84-7D23-671D-88407C27672B}"/>
          </ac:spMkLst>
        </pc:spChg>
        <pc:spChg chg="mod">
          <ac:chgData name="Bálint Lojt" userId="863f185787a3c957" providerId="LiveId" clId="{DCFA6AE5-C2F3-4BB8-BBDF-363CC26A121D}" dt="2026-09-04T08:24:14.273" v="472" actId="1076"/>
          <ac:spMkLst>
            <pc:docMk/>
            <pc:sldMk cId="312468629" sldId="265"/>
            <ac:spMk id="14" creationId="{6586EEB5-B2D4-67E0-88F6-E7A75DEB6DE6}"/>
          </ac:spMkLst>
        </pc:spChg>
        <pc:spChg chg="del mod">
          <ac:chgData name="Bálint Lojt" userId="863f185787a3c957" providerId="LiveId" clId="{DCFA6AE5-C2F3-4BB8-BBDF-363CC26A121D}" dt="2026-09-04T08:24:42.305" v="477" actId="478"/>
          <ac:spMkLst>
            <pc:docMk/>
            <pc:sldMk cId="312468629" sldId="265"/>
            <ac:spMk id="15" creationId="{24F663DE-4078-9C90-97A4-22F720E3C36E}"/>
          </ac:spMkLst>
        </pc:spChg>
        <pc:spChg chg="mod">
          <ac:chgData name="Bálint Lojt" userId="863f185787a3c957" providerId="LiveId" clId="{DCFA6AE5-C2F3-4BB8-BBDF-363CC26A121D}" dt="2026-09-04T08:32:14.275" v="741" actId="12"/>
          <ac:spMkLst>
            <pc:docMk/>
            <pc:sldMk cId="312468629" sldId="265"/>
            <ac:spMk id="16" creationId="{9297765A-9165-9204-E008-B43B1D8455B6}"/>
          </ac:spMkLst>
        </pc:spChg>
        <pc:spChg chg="add mod">
          <ac:chgData name="Bálint Lojt" userId="863f185787a3c957" providerId="LiveId" clId="{DCFA6AE5-C2F3-4BB8-BBDF-363CC26A121D}" dt="2026-09-04T08:24:36.852" v="476" actId="1076"/>
          <ac:spMkLst>
            <pc:docMk/>
            <pc:sldMk cId="312468629" sldId="265"/>
            <ac:spMk id="19" creationId="{350284A5-9D4F-C835-14D7-7EB5837A8FB2}"/>
          </ac:spMkLst>
        </pc:spChg>
        <pc:spChg chg="add mod">
          <ac:chgData name="Bálint Lojt" userId="863f185787a3c957" providerId="LiveId" clId="{DCFA6AE5-C2F3-4BB8-BBDF-363CC26A121D}" dt="2026-09-04T08:25:24.887" v="547" actId="20577"/>
          <ac:spMkLst>
            <pc:docMk/>
            <pc:sldMk cId="312468629" sldId="265"/>
            <ac:spMk id="21" creationId="{84CBD317-59D0-A6D7-AEB5-2E12F9372D15}"/>
          </ac:spMkLst>
        </pc:spChg>
        <pc:spChg chg="add mod ord">
          <ac:chgData name="Bálint Lojt" userId="863f185787a3c957" providerId="LiveId" clId="{DCFA6AE5-C2F3-4BB8-BBDF-363CC26A121D}" dt="2026-09-04T08:28:19.630" v="560" actId="14100"/>
          <ac:spMkLst>
            <pc:docMk/>
            <pc:sldMk cId="312468629" sldId="265"/>
            <ac:spMk id="23" creationId="{E26CEDF8-FCFD-57F5-368C-E4FA88A5E97A}"/>
          </ac:spMkLst>
        </pc:spChg>
        <pc:spChg chg="add mod">
          <ac:chgData name="Bálint Lojt" userId="863f185787a3c957" providerId="LiveId" clId="{DCFA6AE5-C2F3-4BB8-BBDF-363CC26A121D}" dt="2026-09-04T08:31:34.715" v="728" actId="12"/>
          <ac:spMkLst>
            <pc:docMk/>
            <pc:sldMk cId="312468629" sldId="265"/>
            <ac:spMk id="25" creationId="{15A9C779-81D7-F86D-B1D6-A551FF5A0EA3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0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54864"/>
          </a:xfrm>
          <a:prstGeom prst="rect">
            <a:avLst/>
          </a:prstGeom>
          <a:solidFill>
            <a:srgbClr val="FF8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114032" y="868680"/>
            <a:ext cx="4343400" cy="5166360"/>
          </a:xfrm>
          <a:prstGeom prst="roundRect">
            <a:avLst/>
          </a:prstGeom>
          <a:solidFill>
            <a:srgbClr val="141C2A"/>
          </a:solidFill>
          <a:ln w="12700">
            <a:solidFill>
              <a:srgbClr val="303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452360" y="1234440"/>
            <a:ext cx="37033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71EDCD"/>
                </a:solidFill>
                <a:latin typeface="Aptos Display"/>
              </a:defRPr>
            </a:pPr>
            <a:r>
              <a:t>PROJECT</a:t>
            </a:r>
            <a:br/>
            <a:r>
              <a:t>BOUNCER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79792" y="2542032"/>
            <a:ext cx="35661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0F5F8"/>
                </a:solidFill>
                <a:latin typeface="Aptos"/>
              </a:defRPr>
            </a:pPr>
            <a:r>
              <a:t>Cloud Engineering Capstone</a:t>
            </a:r>
          </a:p>
          <a:p>
            <a:pPr>
              <a:defRPr sz="1500">
                <a:solidFill>
                  <a:srgbClr val="AAB7C0"/>
                </a:solidFill>
                <a:latin typeface="Aptos"/>
              </a:defRPr>
            </a:pPr>
            <a:r>
              <a:t>Secure event ticketing platform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19159" y="3684524"/>
            <a:ext cx="4369722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F0F5F8"/>
                </a:solidFill>
                <a:latin typeface="Aptos"/>
              </a:defRPr>
            </a:pPr>
            <a:r>
              <a:rPr lang="en-GB" sz="1600" dirty="0">
                <a:solidFill>
                  <a:srgbClr val="F0F5F8"/>
                </a:solidFill>
                <a:latin typeface="Aptos"/>
              </a:rPr>
              <a:t>“Built for fair access. Engineered for resilience.”</a:t>
            </a:r>
            <a:endParaRPr sz="1600" dirty="0"/>
          </a:p>
        </p:txBody>
      </p:sp>
      <p:sp>
        <p:nvSpPr>
          <p:cNvPr id="8" name="TextBox 7"/>
          <p:cNvSpPr txBox="1"/>
          <p:nvPr/>
        </p:nvSpPr>
        <p:spPr>
          <a:xfrm>
            <a:off x="11475720" y="6547104"/>
            <a:ext cx="4114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AAB7C0"/>
                </a:solidFill>
                <a:latin typeface="Aptos"/>
              </a:defRPr>
            </a:pPr>
            <a:r>
              <a:t>1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EB17D23-D5D6-C298-1457-014B295908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76" y="1481030"/>
            <a:ext cx="7078524" cy="3950804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7A01BC67-3678-1964-150E-9B9B178E7B19}"/>
              </a:ext>
            </a:extLst>
          </p:cNvPr>
          <p:cNvSpPr txBox="1"/>
          <p:nvPr/>
        </p:nvSpPr>
        <p:spPr>
          <a:xfrm>
            <a:off x="9979345" y="6203611"/>
            <a:ext cx="2133213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F0F5F8"/>
                </a:solidFill>
                <a:latin typeface="Aptos"/>
              </a:defRPr>
            </a:pPr>
            <a:r>
              <a:rPr lang="en-GB" sz="1600" dirty="0">
                <a:solidFill>
                  <a:srgbClr val="F0F5F8"/>
                </a:solidFill>
                <a:latin typeface="Aptos"/>
              </a:rPr>
              <a:t>Created by: Balint Lojt</a:t>
            </a:r>
            <a:endParaRPr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0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54864"/>
          </a:xfrm>
          <a:prstGeom prst="rect">
            <a:avLst/>
          </a:prstGeom>
          <a:solidFill>
            <a:srgbClr val="FF8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0F5F8"/>
                </a:solidFill>
                <a:latin typeface="Aptos Display"/>
              </a:defRPr>
            </a:pPr>
            <a:r>
              <a:t>Project goal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786384"/>
            <a:ext cx="4444422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AAB7C0"/>
                </a:solidFill>
                <a:latin typeface="Aptos"/>
              </a:defRPr>
            </a:pPr>
            <a:r>
              <a:rPr dirty="0"/>
              <a:t>A</a:t>
            </a:r>
            <a:r>
              <a:rPr lang="en-US" dirty="0"/>
              <a:t>n</a:t>
            </a:r>
            <a:r>
              <a:rPr dirty="0"/>
              <a:t> AWS environment with security, automation, and cost control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325880"/>
            <a:ext cx="2606040" cy="1325880"/>
          </a:xfrm>
          <a:prstGeom prst="roundRect">
            <a:avLst/>
          </a:prstGeom>
          <a:solidFill>
            <a:srgbClr val="141C2A"/>
          </a:solidFill>
          <a:ln w="12700">
            <a:solidFill>
              <a:srgbClr val="303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04671" y="1472184"/>
            <a:ext cx="2276856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71EDCD"/>
                </a:solidFill>
                <a:latin typeface="Aptos Display"/>
              </a:defRPr>
            </a:pPr>
            <a:r>
              <a:t>3 AZ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1" y="1993391"/>
            <a:ext cx="2276856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AAB7C0"/>
                </a:solidFill>
                <a:latin typeface="Aptos"/>
              </a:defRPr>
            </a:pPr>
            <a:r>
              <a:t>eu-central-1a / b / c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29000" y="1325880"/>
            <a:ext cx="2606040" cy="1325880"/>
          </a:xfrm>
          <a:prstGeom prst="roundRect">
            <a:avLst/>
          </a:prstGeom>
          <a:solidFill>
            <a:srgbClr val="141C2A"/>
          </a:solidFill>
          <a:ln w="12700">
            <a:solidFill>
              <a:srgbClr val="303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593592" y="1472184"/>
            <a:ext cx="2276856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8518"/>
                </a:solidFill>
                <a:latin typeface="Aptos Display"/>
              </a:defRPr>
            </a:pPr>
            <a:r>
              <a:t>HTTPS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93592" y="1993391"/>
            <a:ext cx="2276856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AAB7C0"/>
                </a:solidFill>
                <a:latin typeface="Aptos"/>
              </a:defRPr>
            </a:pPr>
            <a:r>
              <a:t>Route53 + ACM + ALB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325880"/>
            <a:ext cx="2606040" cy="1325880"/>
          </a:xfrm>
          <a:prstGeom prst="roundRect">
            <a:avLst/>
          </a:prstGeom>
          <a:solidFill>
            <a:srgbClr val="141C2A"/>
          </a:solidFill>
          <a:ln w="12700">
            <a:solidFill>
              <a:srgbClr val="303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382512" y="1472184"/>
            <a:ext cx="2276856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DC70FF"/>
                </a:solidFill>
                <a:latin typeface="Aptos Display"/>
              </a:defRPr>
            </a:pPr>
            <a:r>
              <a:t>3–6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82512" y="1993391"/>
            <a:ext cx="2276856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AAB7C0"/>
                </a:solidFill>
                <a:latin typeface="Aptos"/>
              </a:defRPr>
            </a:pPr>
            <a:r>
              <a:t>ASG instance range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006840" y="1325880"/>
            <a:ext cx="2606040" cy="1325880"/>
          </a:xfrm>
          <a:prstGeom prst="roundRect">
            <a:avLst/>
          </a:prstGeom>
          <a:solidFill>
            <a:srgbClr val="141C2A"/>
          </a:solidFill>
          <a:ln w="12700">
            <a:solidFill>
              <a:srgbClr val="303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171432" y="1472184"/>
            <a:ext cx="2276856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68DD8C"/>
                </a:solidFill>
                <a:latin typeface="Aptos Display"/>
              </a:defRPr>
            </a:pPr>
            <a:r>
              <a:t>4 layers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71432" y="1993391"/>
            <a:ext cx="2276856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AAB7C0"/>
                </a:solidFill>
                <a:latin typeface="Aptos"/>
              </a:defRPr>
            </a:pPr>
            <a:r>
              <a:t>Terraform state separation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2926080"/>
            <a:ext cx="5440680" cy="2880360"/>
          </a:xfrm>
          <a:prstGeom prst="roundRect">
            <a:avLst/>
          </a:prstGeom>
          <a:solidFill>
            <a:srgbClr val="141C2A"/>
          </a:solidFill>
          <a:ln w="12700">
            <a:solidFill>
              <a:srgbClr val="303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22959" y="3035808"/>
            <a:ext cx="5074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71EDCD"/>
                </a:solidFill>
                <a:latin typeface="Aptos"/>
              </a:defRPr>
            </a:pPr>
            <a:r>
              <a:t>What Bouncer demonstrates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3383280"/>
            <a:ext cx="49377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F0F5F8"/>
                </a:solidFill>
                <a:latin typeface="Aptos"/>
              </a:defRPr>
            </a:pPr>
            <a:r>
              <a:t>• Public entry point with WAF and TLS termination</a:t>
            </a:r>
          </a:p>
          <a:p>
            <a:pPr>
              <a:spcAft>
                <a:spcPts val="1000"/>
              </a:spcAft>
              <a:defRPr sz="1700">
                <a:solidFill>
                  <a:srgbClr val="F0F5F8"/>
                </a:solidFill>
                <a:latin typeface="Aptos"/>
              </a:defRPr>
            </a:pPr>
            <a:r>
              <a:t>• Private EC2 app tier behind an Application Load Balancer</a:t>
            </a:r>
          </a:p>
          <a:p>
            <a:pPr>
              <a:spcAft>
                <a:spcPts val="1000"/>
              </a:spcAft>
              <a:defRPr sz="1700">
                <a:solidFill>
                  <a:srgbClr val="F0F5F8"/>
                </a:solidFill>
                <a:latin typeface="Aptos"/>
              </a:defRPr>
            </a:pPr>
            <a:r>
              <a:t>• PostgreSQL for ticket data and Redis for shared session / lockout state</a:t>
            </a:r>
          </a:p>
          <a:p>
            <a:pPr>
              <a:spcAft>
                <a:spcPts val="1000"/>
              </a:spcAft>
              <a:defRPr sz="1700">
                <a:solidFill>
                  <a:srgbClr val="F0F5F8"/>
                </a:solidFill>
                <a:latin typeface="Aptos"/>
              </a:defRPr>
            </a:pPr>
            <a:r>
              <a:t>• Infrastructure managed as separate Terraform layers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55080" y="2926080"/>
            <a:ext cx="5440680" cy="2880360"/>
          </a:xfrm>
          <a:prstGeom prst="roundRect">
            <a:avLst/>
          </a:prstGeom>
          <a:solidFill>
            <a:srgbClr val="141C2A"/>
          </a:solidFill>
          <a:ln w="12700">
            <a:solidFill>
              <a:srgbClr val="303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537960" y="3035808"/>
            <a:ext cx="5074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71EDCD"/>
                </a:solidFill>
                <a:latin typeface="Aptos"/>
              </a:defRPr>
            </a:pPr>
            <a:r>
              <a:t>Design choices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0" y="3383280"/>
            <a:ext cx="4937760" cy="1785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F0F5F8"/>
                </a:solidFill>
                <a:latin typeface="Aptos"/>
              </a:defRPr>
            </a:pPr>
            <a:r>
              <a:rPr dirty="0"/>
              <a:t>• Multi-AZ app tier; Single-AZ RDS for capstone cost control</a:t>
            </a:r>
          </a:p>
          <a:p>
            <a:pPr>
              <a:spcAft>
                <a:spcPts val="1000"/>
              </a:spcAft>
              <a:defRPr sz="1700">
                <a:solidFill>
                  <a:srgbClr val="F0F5F8"/>
                </a:solidFill>
                <a:latin typeface="Aptos"/>
              </a:defRPr>
            </a:pPr>
            <a:r>
              <a:rPr dirty="0"/>
              <a:t>• One shared NAT Gateway </a:t>
            </a:r>
          </a:p>
          <a:p>
            <a:pPr>
              <a:spcAft>
                <a:spcPts val="1000"/>
              </a:spcAft>
              <a:defRPr sz="1700">
                <a:solidFill>
                  <a:srgbClr val="F0F5F8"/>
                </a:solidFill>
                <a:latin typeface="Aptos"/>
              </a:defRPr>
            </a:pPr>
            <a:r>
              <a:rPr dirty="0"/>
              <a:t>• OIDC instead of long-lived AWS keys </a:t>
            </a:r>
            <a:endParaRPr lang="en-US" dirty="0"/>
          </a:p>
          <a:p>
            <a:pPr>
              <a:spcAft>
                <a:spcPts val="1000"/>
              </a:spcAft>
              <a:defRPr sz="1700">
                <a:solidFill>
                  <a:srgbClr val="F0F5F8"/>
                </a:solidFill>
                <a:latin typeface="Aptos"/>
              </a:defRPr>
            </a:pPr>
            <a:r>
              <a:rPr dirty="0"/>
              <a:t>• </a:t>
            </a:r>
            <a:r>
              <a:rPr lang="en-US" dirty="0"/>
              <a:t>Full teardown for billable resources </a:t>
            </a:r>
            <a:endParaRPr dirty="0"/>
          </a:p>
        </p:txBody>
      </p:sp>
      <p:sp>
        <p:nvSpPr>
          <p:cNvPr id="23" name="TextBox 22"/>
          <p:cNvSpPr txBox="1"/>
          <p:nvPr/>
        </p:nvSpPr>
        <p:spPr>
          <a:xfrm>
            <a:off x="11475720" y="6547104"/>
            <a:ext cx="4114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AAB7C0"/>
                </a:solidFill>
                <a:latin typeface="Aptos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0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54864"/>
          </a:xfrm>
          <a:prstGeom prst="rect">
            <a:avLst/>
          </a:prstGeom>
          <a:solidFill>
            <a:srgbClr val="FF8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0F5F8"/>
                </a:solidFill>
                <a:latin typeface="Aptos Display"/>
              </a:defRPr>
            </a:pPr>
            <a:r>
              <a:t>Architecture overview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366760" y="1234440"/>
            <a:ext cx="3337560" cy="4526280"/>
          </a:xfrm>
          <a:prstGeom prst="roundRect">
            <a:avLst/>
          </a:prstGeom>
          <a:solidFill>
            <a:srgbClr val="141C2A"/>
          </a:solidFill>
          <a:ln w="12700">
            <a:solidFill>
              <a:srgbClr val="303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549640" y="1344168"/>
            <a:ext cx="2971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71EDCD"/>
                </a:solidFill>
                <a:latin typeface="Aptos"/>
              </a:defRPr>
            </a:pPr>
            <a:r>
              <a:t>Talk track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360" y="1691640"/>
            <a:ext cx="2880360" cy="342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F0F5F8"/>
                </a:solidFill>
                <a:latin typeface="Aptos"/>
              </a:defRPr>
            </a:pPr>
            <a:r>
              <a:t>• Route 53 → WAF → ALB</a:t>
            </a:r>
          </a:p>
          <a:p>
            <a:pPr>
              <a:spcAft>
                <a:spcPts val="1000"/>
              </a:spcAft>
              <a:defRPr sz="1600">
                <a:solidFill>
                  <a:srgbClr val="F0F5F8"/>
                </a:solidFill>
                <a:latin typeface="Aptos"/>
              </a:defRPr>
            </a:pPr>
            <a:r>
              <a:t>• ALB sends traffic to EC2 instances in private subnets</a:t>
            </a:r>
          </a:p>
          <a:p>
            <a:pPr>
              <a:spcAft>
                <a:spcPts val="1000"/>
              </a:spcAft>
              <a:defRPr sz="1600">
                <a:solidFill>
                  <a:srgbClr val="F0F5F8"/>
                </a:solidFill>
                <a:latin typeface="Aptos"/>
              </a:defRPr>
            </a:pPr>
            <a:r>
              <a:t>• RDS stores users, events, and tickets</a:t>
            </a:r>
          </a:p>
          <a:p>
            <a:pPr>
              <a:spcAft>
                <a:spcPts val="1000"/>
              </a:spcAft>
              <a:defRPr sz="1600">
                <a:solidFill>
                  <a:srgbClr val="F0F5F8"/>
                </a:solidFill>
                <a:latin typeface="Aptos"/>
              </a:defRPr>
            </a:pPr>
            <a:r>
              <a:t>• Redis stores shared sessions, lockout counters, and rate limits</a:t>
            </a:r>
          </a:p>
          <a:p>
            <a:pPr>
              <a:spcAft>
                <a:spcPts val="1000"/>
              </a:spcAft>
              <a:defRPr sz="1600">
                <a:solidFill>
                  <a:srgbClr val="F0F5F8"/>
                </a:solidFill>
                <a:latin typeface="Aptos"/>
              </a:defRPr>
            </a:pPr>
            <a:r>
              <a:t>• NAT provides outbound internet access from private subnets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75720" y="6547104"/>
            <a:ext cx="4114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AAB7C0"/>
                </a:solidFill>
                <a:latin typeface="Aptos"/>
              </a:defRPr>
            </a:pPr>
            <a:r>
              <a:t>3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A22F9EFD-FFE1-69E3-3071-A6EA52181F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1206" y="1106424"/>
            <a:ext cx="7092443" cy="555040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0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54864"/>
          </a:xfrm>
          <a:prstGeom prst="rect">
            <a:avLst/>
          </a:prstGeom>
          <a:solidFill>
            <a:srgbClr val="FF8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0F5F8"/>
                </a:solidFill>
                <a:latin typeface="Aptos Display"/>
              </a:defRPr>
            </a:pPr>
            <a:r>
              <a:t>Delivery pipeline</a:t>
            </a:r>
          </a:p>
        </p:txBody>
      </p:sp>
      <p:pic>
        <p:nvPicPr>
          <p:cNvPr id="5" name="Picture 4" descr="Screenshot 2026-09-03 2023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115568"/>
            <a:ext cx="8321040" cy="544068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9006840" y="1234440"/>
            <a:ext cx="2697480" cy="4526280"/>
          </a:xfrm>
          <a:prstGeom prst="roundRect">
            <a:avLst/>
          </a:prstGeom>
          <a:solidFill>
            <a:srgbClr val="141C2A"/>
          </a:solidFill>
          <a:ln w="12700">
            <a:solidFill>
              <a:srgbClr val="303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89719" y="1344168"/>
            <a:ext cx="2331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71EDCD"/>
                </a:solidFill>
                <a:latin typeface="Aptos"/>
              </a:defRPr>
            </a:pPr>
            <a:r>
              <a:t>What to point at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35440" y="1691640"/>
            <a:ext cx="22860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F0F5F8"/>
                </a:solidFill>
                <a:latin typeface="Aptos"/>
              </a:defRPr>
            </a:pPr>
            <a:r>
              <a:t>• Every PR: fmt + Checkov + Terraform plan</a:t>
            </a:r>
          </a:p>
          <a:p>
            <a:pPr>
              <a:spcAft>
                <a:spcPts val="1000"/>
              </a:spcAft>
              <a:defRPr sz="1500">
                <a:solidFill>
                  <a:srgbClr val="F0F5F8"/>
                </a:solidFill>
                <a:latin typeface="Aptos"/>
              </a:defRPr>
            </a:pPr>
            <a:r>
              <a:t>• Main: apply through GitHub OIDC</a:t>
            </a:r>
          </a:p>
          <a:p>
            <a:pPr>
              <a:spcAft>
                <a:spcPts val="1000"/>
              </a:spcAft>
              <a:defRPr sz="1500">
                <a:solidFill>
                  <a:srgbClr val="F0F5F8"/>
                </a:solidFill>
                <a:latin typeface="Aptos"/>
              </a:defRPr>
            </a:pPr>
            <a:r>
              <a:t>• AWS STS issues temporary credentials</a:t>
            </a:r>
          </a:p>
          <a:p>
            <a:pPr>
              <a:spcAft>
                <a:spcPts val="1000"/>
              </a:spcAft>
              <a:defRPr sz="1500">
                <a:solidFill>
                  <a:srgbClr val="F0F5F8"/>
                </a:solidFill>
                <a:latin typeface="Aptos"/>
              </a:defRPr>
            </a:pPr>
            <a:r>
              <a:t>• Required status: “All checks passed”</a:t>
            </a:r>
          </a:p>
          <a:p>
            <a:pPr>
              <a:spcAft>
                <a:spcPts val="1000"/>
              </a:spcAft>
              <a:defRPr sz="1500">
                <a:solidFill>
                  <a:srgbClr val="F0F5F8"/>
                </a:solidFill>
                <a:latin typeface="Aptos"/>
              </a:defRPr>
            </a:pPr>
            <a:r>
              <a:t>• Nightly: detailed-exitcode drift detection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75720" y="6547104"/>
            <a:ext cx="4114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AAB7C0"/>
                </a:solidFill>
                <a:latin typeface="Aptos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0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54864"/>
          </a:xfrm>
          <a:prstGeom prst="rect">
            <a:avLst/>
          </a:prstGeom>
          <a:solidFill>
            <a:srgbClr val="FF8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0F5F8"/>
                </a:solidFill>
                <a:latin typeface="Aptos Display"/>
              </a:defRPr>
            </a:pPr>
            <a:r>
              <a:t>Live demo</a:t>
            </a:r>
          </a:p>
        </p:txBody>
      </p:sp>
      <p:sp>
        <p:nvSpPr>
          <p:cNvPr id="5" name="Oval 4"/>
          <p:cNvSpPr/>
          <p:nvPr/>
        </p:nvSpPr>
        <p:spPr>
          <a:xfrm>
            <a:off x="685800" y="1234440"/>
            <a:ext cx="502920" cy="502920"/>
          </a:xfrm>
          <a:prstGeom prst="ellipse">
            <a:avLst/>
          </a:prstGeom>
          <a:solidFill>
            <a:srgbClr val="FF8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85800" y="1307592"/>
            <a:ext cx="502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0A101B"/>
                </a:solidFill>
                <a:latin typeface="Aptos Display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17320" y="1225296"/>
            <a:ext cx="3383280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71EDCD"/>
                </a:solidFill>
                <a:latin typeface="Aptos"/>
              </a:defRPr>
            </a:pPr>
            <a:r>
              <a:t>Public endpoint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26280" y="1225296"/>
            <a:ext cx="2302233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F0F5F8"/>
                </a:solidFill>
                <a:latin typeface="Aptos"/>
              </a:defRPr>
            </a:pPr>
            <a:r>
              <a:rPr dirty="0"/>
              <a:t> app.projectbouncer.org</a:t>
            </a:r>
          </a:p>
        </p:txBody>
      </p:sp>
      <p:sp>
        <p:nvSpPr>
          <p:cNvPr id="9" name="Oval 8"/>
          <p:cNvSpPr/>
          <p:nvPr/>
        </p:nvSpPr>
        <p:spPr>
          <a:xfrm>
            <a:off x="685800" y="2221992"/>
            <a:ext cx="502920" cy="502920"/>
          </a:xfrm>
          <a:prstGeom prst="ellipse">
            <a:avLst/>
          </a:prstGeom>
          <a:solidFill>
            <a:srgbClr val="FF8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85800" y="2295144"/>
            <a:ext cx="502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0A101B"/>
                </a:solidFill>
                <a:latin typeface="Aptos Display"/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7320" y="2212848"/>
            <a:ext cx="3383280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71EDCD"/>
                </a:solidFill>
                <a:latin typeface="Aptos"/>
              </a:defRPr>
            </a:pPr>
            <a:r>
              <a:t>Application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26280" y="2212848"/>
            <a:ext cx="63093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F0F5F8"/>
                </a:solidFill>
                <a:latin typeface="Aptos"/>
              </a:defRPr>
            </a:pPr>
            <a:r>
              <a:t>Login → /me → /buy</a:t>
            </a:r>
          </a:p>
        </p:txBody>
      </p:sp>
      <p:sp>
        <p:nvSpPr>
          <p:cNvPr id="13" name="Oval 12"/>
          <p:cNvSpPr/>
          <p:nvPr/>
        </p:nvSpPr>
        <p:spPr>
          <a:xfrm>
            <a:off x="685800" y="3209544"/>
            <a:ext cx="502920" cy="502920"/>
          </a:xfrm>
          <a:prstGeom prst="ellipse">
            <a:avLst/>
          </a:prstGeom>
          <a:solidFill>
            <a:srgbClr val="FF8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85800" y="3282696"/>
            <a:ext cx="502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0A101B"/>
                </a:solidFill>
                <a:latin typeface="Aptos Display"/>
              </a:defRPr>
            </a:pPr>
            <a: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20" y="3200400"/>
            <a:ext cx="3383280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71EDCD"/>
                </a:solidFill>
                <a:latin typeface="Aptos"/>
              </a:defRPr>
            </a:pPr>
            <a:r>
              <a:t>Monitoring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26280" y="3200400"/>
            <a:ext cx="3482235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F0F5F8"/>
                </a:solidFill>
                <a:latin typeface="Aptos"/>
              </a:defRPr>
            </a:pPr>
            <a:r>
              <a:rPr dirty="0"/>
              <a:t>CloudWatch dashboard + alarm state</a:t>
            </a:r>
          </a:p>
        </p:txBody>
      </p:sp>
      <p:sp>
        <p:nvSpPr>
          <p:cNvPr id="17" name="Oval 16"/>
          <p:cNvSpPr/>
          <p:nvPr/>
        </p:nvSpPr>
        <p:spPr>
          <a:xfrm>
            <a:off x="685800" y="4197096"/>
            <a:ext cx="502920" cy="502920"/>
          </a:xfrm>
          <a:prstGeom prst="ellipse">
            <a:avLst/>
          </a:prstGeom>
          <a:solidFill>
            <a:srgbClr val="FF8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85800" y="4270248"/>
            <a:ext cx="502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0A101B"/>
                </a:solidFill>
                <a:latin typeface="Aptos Display"/>
              </a:defRPr>
            </a:pPr>
            <a: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17320" y="4187952"/>
            <a:ext cx="3383280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71EDCD"/>
                </a:solidFill>
                <a:latin typeface="Aptos"/>
              </a:defRPr>
            </a:pPr>
            <a:r>
              <a:t>CI/CD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26280" y="4187952"/>
            <a:ext cx="1576072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F0F5F8"/>
                </a:solidFill>
                <a:latin typeface="Aptos"/>
              </a:defRPr>
            </a:pPr>
            <a:r>
              <a:rPr dirty="0"/>
              <a:t>GitHub Actions 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475720" y="6547104"/>
            <a:ext cx="4114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AAB7C0"/>
                </a:solidFill>
                <a:latin typeface="Aptos"/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0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54864"/>
          </a:xfrm>
          <a:prstGeom prst="rect">
            <a:avLst/>
          </a:prstGeom>
          <a:solidFill>
            <a:srgbClr val="FF8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0F5F8"/>
                </a:solidFill>
                <a:latin typeface="Aptos Display"/>
              </a:defRPr>
            </a:pPr>
            <a:r>
              <a:t>Technical deep dive: security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786384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AAB7C0"/>
                </a:solidFill>
                <a:latin typeface="Aptos"/>
              </a:defRPr>
            </a:pPr>
            <a:r>
              <a:t>Defense in depth across network, identity, application, and data layers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188720"/>
            <a:ext cx="5440680" cy="5166360"/>
          </a:xfrm>
          <a:prstGeom prst="roundRect">
            <a:avLst/>
          </a:prstGeom>
          <a:solidFill>
            <a:srgbClr val="141C2A"/>
          </a:solidFill>
          <a:ln w="12700">
            <a:solidFill>
              <a:srgbClr val="303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96112" y="1307846"/>
            <a:ext cx="5074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71EDCD"/>
                </a:solidFill>
                <a:latin typeface="Aptos"/>
              </a:defRPr>
            </a:pPr>
            <a:r>
              <a:rPr dirty="0"/>
              <a:t>Network + identity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1645920"/>
            <a:ext cx="48920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F0F5F8"/>
                </a:solidFill>
                <a:latin typeface="Aptos"/>
              </a:defRPr>
            </a:pPr>
            <a:r>
              <a:rPr dirty="0"/>
              <a:t>• EC2 instances have no public IP and no SSH access</a:t>
            </a:r>
          </a:p>
          <a:p>
            <a:pPr>
              <a:spcAft>
                <a:spcPts val="1000"/>
              </a:spcAft>
              <a:defRPr sz="1600">
                <a:solidFill>
                  <a:srgbClr val="F0F5F8"/>
                </a:solidFill>
                <a:latin typeface="Aptos"/>
              </a:defRPr>
            </a:pPr>
            <a:r>
              <a:rPr dirty="0"/>
              <a:t>• SSM Session Manager is the management path</a:t>
            </a:r>
          </a:p>
          <a:p>
            <a:pPr>
              <a:spcAft>
                <a:spcPts val="1000"/>
              </a:spcAft>
              <a:defRPr sz="1600">
                <a:solidFill>
                  <a:srgbClr val="F0F5F8"/>
                </a:solidFill>
                <a:latin typeface="Aptos"/>
              </a:defRPr>
            </a:pPr>
            <a:r>
              <a:rPr dirty="0"/>
              <a:t>• IMDSv2 is required on EC2</a:t>
            </a:r>
          </a:p>
          <a:p>
            <a:pPr>
              <a:spcAft>
                <a:spcPts val="1000"/>
              </a:spcAft>
              <a:defRPr sz="1600">
                <a:solidFill>
                  <a:srgbClr val="F0F5F8"/>
                </a:solidFill>
                <a:latin typeface="Aptos"/>
              </a:defRPr>
            </a:pPr>
            <a:r>
              <a:rPr dirty="0"/>
              <a:t>• Security groups allow only tier-to-tier traffic</a:t>
            </a:r>
          </a:p>
          <a:p>
            <a:pPr>
              <a:spcAft>
                <a:spcPts val="1000"/>
              </a:spcAft>
              <a:defRPr sz="1600">
                <a:solidFill>
                  <a:srgbClr val="F0F5F8"/>
                </a:solidFill>
                <a:latin typeface="Aptos"/>
              </a:defRPr>
            </a:pPr>
            <a:r>
              <a:rPr dirty="0"/>
              <a:t>• GitHub Actions uses OIDC with temporary AWS credentials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55080" y="1188720"/>
            <a:ext cx="5440680" cy="5166360"/>
          </a:xfrm>
          <a:prstGeom prst="roundRect">
            <a:avLst/>
          </a:prstGeom>
          <a:solidFill>
            <a:srgbClr val="141C2A"/>
          </a:solidFill>
          <a:ln w="12700">
            <a:solidFill>
              <a:srgbClr val="303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606540" y="1330452"/>
            <a:ext cx="5074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71EDCD"/>
                </a:solidFill>
                <a:latin typeface="Aptos"/>
              </a:defRPr>
            </a:pPr>
            <a:r>
              <a:rPr dirty="0"/>
              <a:t>Application + data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11112" y="1645920"/>
            <a:ext cx="48920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F0F5F8"/>
                </a:solidFill>
                <a:latin typeface="Aptos"/>
              </a:defRPr>
            </a:pPr>
            <a:r>
              <a:rPr dirty="0"/>
              <a:t>• HTTPS with Secure, </a:t>
            </a:r>
            <a:r>
              <a:rPr dirty="0" err="1"/>
              <a:t>HttpOnly</a:t>
            </a:r>
            <a:r>
              <a:rPr dirty="0"/>
              <a:t>, </a:t>
            </a:r>
            <a:r>
              <a:rPr dirty="0" err="1"/>
              <a:t>SameSite</a:t>
            </a:r>
            <a:r>
              <a:rPr dirty="0"/>
              <a:t>=Lax cookies</a:t>
            </a:r>
          </a:p>
          <a:p>
            <a:pPr>
              <a:spcAft>
                <a:spcPts val="1000"/>
              </a:spcAft>
              <a:defRPr sz="1600">
                <a:solidFill>
                  <a:srgbClr val="F0F5F8"/>
                </a:solidFill>
                <a:latin typeface="Aptos"/>
              </a:defRPr>
            </a:pPr>
            <a:r>
              <a:rPr dirty="0"/>
              <a:t>• Passwords stored as </a:t>
            </a:r>
            <a:r>
              <a:rPr dirty="0" err="1"/>
              <a:t>bcrypt</a:t>
            </a:r>
            <a:r>
              <a:rPr dirty="0"/>
              <a:t> hashes</a:t>
            </a:r>
          </a:p>
          <a:p>
            <a:pPr>
              <a:spcAft>
                <a:spcPts val="1000"/>
              </a:spcAft>
              <a:defRPr sz="1600">
                <a:solidFill>
                  <a:srgbClr val="F0F5F8"/>
                </a:solidFill>
                <a:latin typeface="Aptos"/>
              </a:defRPr>
            </a:pPr>
            <a:r>
              <a:rPr dirty="0"/>
              <a:t>• Redis-backed 5-failure / 5-minute login lockout</a:t>
            </a:r>
          </a:p>
          <a:p>
            <a:pPr>
              <a:spcAft>
                <a:spcPts val="1000"/>
              </a:spcAft>
              <a:defRPr sz="1600">
                <a:solidFill>
                  <a:srgbClr val="F0F5F8"/>
                </a:solidFill>
                <a:latin typeface="Aptos"/>
              </a:defRPr>
            </a:pPr>
            <a:r>
              <a:rPr dirty="0"/>
              <a:t>• WAF rate limits /login and /buy</a:t>
            </a:r>
          </a:p>
          <a:p>
            <a:pPr>
              <a:spcAft>
                <a:spcPts val="1000"/>
              </a:spcAft>
              <a:defRPr sz="1600">
                <a:solidFill>
                  <a:srgbClr val="F0F5F8"/>
                </a:solidFill>
                <a:latin typeface="Aptos"/>
              </a:defRPr>
            </a:pPr>
            <a:r>
              <a:rPr dirty="0"/>
              <a:t>• DB UNIQUE(</a:t>
            </a:r>
            <a:r>
              <a:rPr dirty="0" err="1"/>
              <a:t>event_id</a:t>
            </a:r>
            <a:r>
              <a:rPr dirty="0"/>
              <a:t>, </a:t>
            </a:r>
            <a:r>
              <a:rPr dirty="0" err="1"/>
              <a:t>user_id</a:t>
            </a:r>
            <a:r>
              <a:rPr dirty="0"/>
              <a:t>) prevents duplicate tickets</a:t>
            </a:r>
          </a:p>
          <a:p>
            <a:pPr>
              <a:spcAft>
                <a:spcPts val="1000"/>
              </a:spcAft>
              <a:defRPr sz="1600">
                <a:solidFill>
                  <a:srgbClr val="F0F5F8"/>
                </a:solidFill>
                <a:latin typeface="Aptos"/>
              </a:defRPr>
            </a:pPr>
            <a:r>
              <a:rPr dirty="0"/>
              <a:t>• </a:t>
            </a:r>
            <a:r>
              <a:rPr dirty="0" err="1"/>
              <a:t>Checkov</a:t>
            </a:r>
            <a:r>
              <a:rPr dirty="0"/>
              <a:t>: 273/273 checks passing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75720" y="6547104"/>
            <a:ext cx="4114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AAB7C0"/>
                </a:solidFill>
                <a:latin typeface="Aptos"/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0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54864"/>
          </a:xfrm>
          <a:prstGeom prst="rect">
            <a:avLst/>
          </a:prstGeom>
          <a:solidFill>
            <a:srgbClr val="FF8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0F5F8"/>
                </a:solidFill>
                <a:latin typeface="Aptos Display"/>
              </a:defRPr>
            </a:pPr>
            <a:r>
              <a:t>Challenges &amp; learning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786384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AAB7C0"/>
                </a:solidFill>
                <a:latin typeface="Aptos"/>
              </a:defRPr>
            </a:pPr>
            <a:r>
              <a:t>The biggest lessons came from failures during real applies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280160"/>
            <a:ext cx="5440680" cy="1965960"/>
          </a:xfrm>
          <a:prstGeom prst="roundRect">
            <a:avLst/>
          </a:prstGeom>
          <a:solidFill>
            <a:srgbClr val="141C2A"/>
          </a:solidFill>
          <a:ln w="12700">
            <a:solidFill>
              <a:srgbClr val="303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41247" y="1444751"/>
            <a:ext cx="5029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FF8518"/>
                </a:solidFill>
                <a:latin typeface="Aptos"/>
              </a:defRPr>
            </a:pPr>
            <a:r>
              <a:t>IAM least privilege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7" y="1901952"/>
            <a:ext cx="4434291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  <a:defRPr sz="1400">
                <a:solidFill>
                  <a:srgbClr val="F0F5F8"/>
                </a:solidFill>
                <a:latin typeface="Aptos"/>
              </a:defRPr>
            </a:pPr>
            <a:r>
              <a:rPr dirty="0"/>
              <a:t>A clean Terraform plan did not prove the write path. 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  <a:defRPr sz="1400">
                <a:solidFill>
                  <a:srgbClr val="F0F5F8"/>
                </a:solidFill>
                <a:latin typeface="Aptos"/>
              </a:defRPr>
            </a:pPr>
            <a:r>
              <a:rPr dirty="0"/>
              <a:t>Real applies exposed missing AWS permissions.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611879"/>
            <a:ext cx="5440680" cy="1965960"/>
          </a:xfrm>
          <a:prstGeom prst="roundRect">
            <a:avLst/>
          </a:prstGeom>
          <a:solidFill>
            <a:srgbClr val="141C2A"/>
          </a:solidFill>
          <a:ln w="12700">
            <a:solidFill>
              <a:srgbClr val="303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41247" y="3776472"/>
            <a:ext cx="5029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FF8518"/>
                </a:solidFill>
                <a:latin typeface="Aptos"/>
              </a:defRPr>
            </a:pPr>
            <a:r>
              <a:t>Schema regression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7" y="4233672"/>
            <a:ext cx="4348242" cy="7386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  <a:defRPr sz="1400">
                <a:solidFill>
                  <a:srgbClr val="F0F5F8"/>
                </a:solidFill>
                <a:latin typeface="Aptos"/>
              </a:defRPr>
            </a:pPr>
            <a:r>
              <a:rPr dirty="0"/>
              <a:t>A change removed the users table. 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  <a:defRPr sz="1400">
                <a:solidFill>
                  <a:srgbClr val="F0F5F8"/>
                </a:solidFill>
                <a:latin typeface="Aptos"/>
              </a:defRPr>
            </a:pPr>
            <a:r>
              <a:rPr dirty="0"/>
              <a:t>Fresh RDS creation then failed during app startup. </a:t>
            </a:r>
            <a:br>
              <a:rPr lang="en-US" dirty="0"/>
            </a:br>
            <a:endParaRPr dirty="0"/>
          </a:p>
        </p:txBody>
      </p:sp>
      <p:sp>
        <p:nvSpPr>
          <p:cNvPr id="11" name="Rounded Rectangle 10"/>
          <p:cNvSpPr/>
          <p:nvPr/>
        </p:nvSpPr>
        <p:spPr>
          <a:xfrm>
            <a:off x="6355080" y="1280160"/>
            <a:ext cx="5440680" cy="1965960"/>
          </a:xfrm>
          <a:prstGeom prst="roundRect">
            <a:avLst/>
          </a:prstGeom>
          <a:solidFill>
            <a:srgbClr val="141C2A"/>
          </a:solidFill>
          <a:ln w="12700">
            <a:solidFill>
              <a:srgbClr val="303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556248" y="1444751"/>
            <a:ext cx="5029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FF8518"/>
                </a:solidFill>
                <a:latin typeface="Aptos"/>
              </a:defRPr>
            </a:pPr>
            <a:r>
              <a:t>NAT / EIP teardown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56248" y="1901952"/>
            <a:ext cx="4818114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  <a:defRPr sz="1400">
                <a:solidFill>
                  <a:srgbClr val="F0F5F8"/>
                </a:solidFill>
                <a:latin typeface="Aptos"/>
              </a:defRPr>
            </a:pPr>
            <a:r>
              <a:rPr dirty="0"/>
              <a:t>A delete race left the EIP state stale. 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  <a:defRPr sz="1400">
                <a:solidFill>
                  <a:srgbClr val="F0F5F8"/>
                </a:solidFill>
                <a:latin typeface="Aptos"/>
              </a:defRPr>
            </a:pPr>
            <a:r>
              <a:rPr dirty="0"/>
              <a:t>Manual release + refresh-only recovered Terraform state.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55080" y="3611879"/>
            <a:ext cx="5440680" cy="1965960"/>
          </a:xfrm>
          <a:prstGeom prst="roundRect">
            <a:avLst/>
          </a:prstGeom>
          <a:solidFill>
            <a:srgbClr val="141C2A"/>
          </a:solidFill>
          <a:ln w="12700">
            <a:solidFill>
              <a:srgbClr val="303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556248" y="3776472"/>
            <a:ext cx="5029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71EDCD"/>
                </a:solidFill>
                <a:latin typeface="Aptos"/>
              </a:defRPr>
            </a:pPr>
            <a:r>
              <a:t>Main lesson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56248" y="4233672"/>
            <a:ext cx="4983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0F5F8"/>
                </a:solidFill>
                <a:latin typeface="Aptos"/>
              </a:defRPr>
            </a:pPr>
            <a:r>
              <a:rPr dirty="0"/>
              <a:t>Test real create / destroy paths, not just syntax and plan output.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75720" y="6547104"/>
            <a:ext cx="4114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AAB7C0"/>
                </a:solidFill>
                <a:latin typeface="Aptos"/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01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4379277-8059-6DF0-40B1-924D01C6EF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ounded Rectangle 7">
            <a:extLst>
              <a:ext uri="{FF2B5EF4-FFF2-40B4-BE49-F238E27FC236}">
                <a16:creationId xmlns:a16="http://schemas.microsoft.com/office/drawing/2014/main" id="{E26CEDF8-FCFD-57F5-368C-E4FA88A5E97A}"/>
              </a:ext>
            </a:extLst>
          </p:cNvPr>
          <p:cNvSpPr/>
          <p:nvPr/>
        </p:nvSpPr>
        <p:spPr>
          <a:xfrm>
            <a:off x="588698" y="5185020"/>
            <a:ext cx="11160253" cy="1563252"/>
          </a:xfrm>
          <a:prstGeom prst="roundRect">
            <a:avLst/>
          </a:prstGeom>
          <a:solidFill>
            <a:srgbClr val="141C2A"/>
          </a:solidFill>
          <a:ln w="12700">
            <a:solidFill>
              <a:srgbClr val="303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C018A46-AD0E-38E1-D76C-E36E08FAF323}"/>
              </a:ext>
            </a:extLst>
          </p:cNvPr>
          <p:cNvSpPr/>
          <p:nvPr/>
        </p:nvSpPr>
        <p:spPr>
          <a:xfrm>
            <a:off x="0" y="0"/>
            <a:ext cx="12191999" cy="54864"/>
          </a:xfrm>
          <a:prstGeom prst="rect">
            <a:avLst/>
          </a:prstGeom>
          <a:solidFill>
            <a:srgbClr val="FF8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250ABDB-1EA4-36CA-8AD1-D8AA14CEF837}"/>
              </a:ext>
            </a:extLst>
          </p:cNvPr>
          <p:cNvSpPr txBox="1"/>
          <p:nvPr/>
        </p:nvSpPr>
        <p:spPr>
          <a:xfrm>
            <a:off x="731520" y="228600"/>
            <a:ext cx="3457485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0F5F8"/>
                </a:solidFill>
                <a:latin typeface="Aptos Display"/>
              </a:defRPr>
            </a:pPr>
            <a:r>
              <a:rPr lang="en-US" dirty="0"/>
              <a:t>Future improvements</a:t>
            </a:r>
            <a:endParaRPr dirty="0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2FD6A7D8-2B3D-17CB-79EF-FFD26BE7A75A}"/>
              </a:ext>
            </a:extLst>
          </p:cNvPr>
          <p:cNvSpPr/>
          <p:nvPr/>
        </p:nvSpPr>
        <p:spPr>
          <a:xfrm>
            <a:off x="588698" y="903966"/>
            <a:ext cx="5440680" cy="1965960"/>
          </a:xfrm>
          <a:prstGeom prst="roundRect">
            <a:avLst/>
          </a:prstGeom>
          <a:solidFill>
            <a:srgbClr val="141C2A"/>
          </a:solidFill>
          <a:ln w="12700">
            <a:solidFill>
              <a:srgbClr val="303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C598868-3DF1-B463-EA5A-8902BD266E64}"/>
              </a:ext>
            </a:extLst>
          </p:cNvPr>
          <p:cNvSpPr txBox="1"/>
          <p:nvPr/>
        </p:nvSpPr>
        <p:spPr>
          <a:xfrm>
            <a:off x="841247" y="1168532"/>
            <a:ext cx="1743298" cy="3539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FF8518"/>
                </a:solidFill>
                <a:latin typeface="Aptos"/>
              </a:defRPr>
            </a:pPr>
            <a:r>
              <a:rPr lang="en-US" dirty="0"/>
              <a:t>CI/CD fine-tune</a:t>
            </a:r>
            <a:endParaRPr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50FC249-FC9D-8171-C958-B6D9C8655B9F}"/>
              </a:ext>
            </a:extLst>
          </p:cNvPr>
          <p:cNvSpPr txBox="1"/>
          <p:nvPr/>
        </p:nvSpPr>
        <p:spPr>
          <a:xfrm>
            <a:off x="841247" y="1672980"/>
            <a:ext cx="4941866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GB" sz="1400" dirty="0">
                <a:solidFill>
                  <a:schemeClr val="bg1"/>
                </a:solidFill>
                <a:latin typeface="Aptos" panose="020B0004020202020204" pitchFamily="34" charset="0"/>
              </a:rPr>
              <a:t>Only run Terraform checks when Terraform code changes.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GB" sz="1400" dirty="0">
                <a:solidFill>
                  <a:schemeClr val="bg1"/>
                </a:solidFill>
                <a:latin typeface="Aptos" panose="020B0004020202020204" pitchFamily="34" charset="0"/>
              </a:rPr>
              <a:t>Avoid running Terraform tests for docs-only changes.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DC474F01-06F9-91AF-5231-4AA30FFA1F80}"/>
              </a:ext>
            </a:extLst>
          </p:cNvPr>
          <p:cNvSpPr/>
          <p:nvPr/>
        </p:nvSpPr>
        <p:spPr>
          <a:xfrm>
            <a:off x="630935" y="3044560"/>
            <a:ext cx="5440680" cy="1965960"/>
          </a:xfrm>
          <a:prstGeom prst="roundRect">
            <a:avLst/>
          </a:prstGeom>
          <a:solidFill>
            <a:srgbClr val="141C2A"/>
          </a:solidFill>
          <a:ln w="12700">
            <a:solidFill>
              <a:srgbClr val="303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60FBB1E-3B79-9A79-5757-2B08AF5AA9E3}"/>
              </a:ext>
            </a:extLst>
          </p:cNvPr>
          <p:cNvSpPr txBox="1"/>
          <p:nvPr/>
        </p:nvSpPr>
        <p:spPr>
          <a:xfrm>
            <a:off x="841247" y="3108202"/>
            <a:ext cx="2467791" cy="3539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FF8518"/>
                </a:solidFill>
                <a:latin typeface="Aptos"/>
              </a:defRPr>
            </a:pPr>
            <a:r>
              <a:rPr lang="en-US" dirty="0"/>
              <a:t>Build a proper frontend</a:t>
            </a:r>
            <a:endParaRPr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DCC137F-616D-A82E-1D7A-A68BCE9A5A09}"/>
              </a:ext>
            </a:extLst>
          </p:cNvPr>
          <p:cNvSpPr txBox="1"/>
          <p:nvPr/>
        </p:nvSpPr>
        <p:spPr>
          <a:xfrm>
            <a:off x="641429" y="3577252"/>
            <a:ext cx="5370894" cy="116955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GB" sz="1400" dirty="0">
                <a:solidFill>
                  <a:schemeClr val="bg1"/>
                </a:solidFill>
                <a:latin typeface="Aptos" panose="020B0004020202020204" pitchFamily="34" charset="0"/>
              </a:rPr>
              <a:t>Replace the basic/demo interface with a real website.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GB" sz="1400" dirty="0">
                <a:solidFill>
                  <a:schemeClr val="bg1"/>
                </a:solidFill>
                <a:latin typeface="Aptos" panose="020B0004020202020204" pitchFamily="34" charset="0"/>
              </a:rPr>
              <a:t>Make the application easier to demonstrate to a user.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GB" sz="1400" dirty="0">
                <a:solidFill>
                  <a:schemeClr val="bg1"/>
                </a:solidFill>
                <a:latin typeface="Aptos" panose="020B0004020202020204" pitchFamily="34" charset="0"/>
              </a:rPr>
              <a:t>Show the complete flow in the browser instead of relying mainly</a:t>
            </a:r>
            <a:br>
              <a:rPr lang="en-GB" sz="1400" dirty="0">
                <a:solidFill>
                  <a:schemeClr val="bg1"/>
                </a:solidFill>
                <a:latin typeface="Aptos" panose="020B0004020202020204" pitchFamily="34" charset="0"/>
              </a:rPr>
            </a:br>
            <a:r>
              <a:rPr lang="en-GB" sz="1400" dirty="0">
                <a:solidFill>
                  <a:schemeClr val="bg1"/>
                </a:solidFill>
                <a:latin typeface="Aptos" panose="020B0004020202020204" pitchFamily="34" charset="0"/>
              </a:rPr>
              <a:t> on curl/console demos.</a:t>
            </a:r>
          </a:p>
          <a:p>
            <a:pPr>
              <a:defRPr sz="1400">
                <a:solidFill>
                  <a:srgbClr val="F0F5F8"/>
                </a:solidFill>
                <a:latin typeface="Aptos"/>
              </a:defRPr>
            </a:pPr>
            <a:endParaRPr sz="1400" dirty="0">
              <a:solidFill>
                <a:schemeClr val="bg1"/>
              </a:solidFill>
              <a:latin typeface="Aptos" panose="020B0004020202020204" pitchFamily="34" charset="0"/>
            </a:endParaRP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321D1D63-E583-315E-20FE-AAE10E2241C6}"/>
              </a:ext>
            </a:extLst>
          </p:cNvPr>
          <p:cNvSpPr/>
          <p:nvPr/>
        </p:nvSpPr>
        <p:spPr>
          <a:xfrm>
            <a:off x="6350508" y="903966"/>
            <a:ext cx="5440680" cy="1965960"/>
          </a:xfrm>
          <a:prstGeom prst="roundRect">
            <a:avLst/>
          </a:prstGeom>
          <a:solidFill>
            <a:srgbClr val="141C2A"/>
          </a:solidFill>
          <a:ln w="12700">
            <a:solidFill>
              <a:srgbClr val="303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646EEC9-F500-D996-ABD1-85B19CC71295}"/>
              </a:ext>
            </a:extLst>
          </p:cNvPr>
          <p:cNvSpPr txBox="1"/>
          <p:nvPr/>
        </p:nvSpPr>
        <p:spPr>
          <a:xfrm>
            <a:off x="6556248" y="1168531"/>
            <a:ext cx="1493358" cy="3539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FF8518"/>
                </a:solidFill>
                <a:latin typeface="Aptos"/>
              </a:defRPr>
            </a:pPr>
            <a:r>
              <a:rPr lang="en-US" dirty="0"/>
              <a:t>Add </a:t>
            </a:r>
            <a:r>
              <a:rPr lang="en-US" dirty="0" err="1"/>
              <a:t>Terratest</a:t>
            </a:r>
            <a:endParaRPr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96CF847-DD84-7D23-671D-88407C27672B}"/>
              </a:ext>
            </a:extLst>
          </p:cNvPr>
          <p:cNvSpPr txBox="1"/>
          <p:nvPr/>
        </p:nvSpPr>
        <p:spPr>
          <a:xfrm>
            <a:off x="6556248" y="1529821"/>
            <a:ext cx="5009320" cy="90794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GB" sz="1400" dirty="0">
                <a:solidFill>
                  <a:schemeClr val="bg1"/>
                </a:solidFill>
                <a:latin typeface="Aptos" panose="020B0004020202020204" pitchFamily="34" charset="0"/>
              </a:rPr>
              <a:t>Add automated infrastructure integration tests.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GB" sz="1400" dirty="0">
                <a:solidFill>
                  <a:schemeClr val="bg1"/>
                </a:solidFill>
                <a:latin typeface="Aptos" panose="020B0004020202020204" pitchFamily="34" charset="0"/>
              </a:rPr>
              <a:t>Test that deployed resources actually behave as expected, </a:t>
            </a:r>
            <a:br>
              <a:rPr lang="en-GB" sz="1400" dirty="0">
                <a:solidFill>
                  <a:schemeClr val="bg1"/>
                </a:solidFill>
                <a:latin typeface="Aptos" panose="020B0004020202020204" pitchFamily="34" charset="0"/>
              </a:rPr>
            </a:br>
            <a:r>
              <a:rPr lang="en-GB" sz="1400" dirty="0">
                <a:solidFill>
                  <a:schemeClr val="bg1"/>
                </a:solidFill>
                <a:latin typeface="Aptos" panose="020B0004020202020204" pitchFamily="34" charset="0"/>
              </a:rPr>
              <a:t> not just that Terraform can plan.</a:t>
            </a:r>
          </a:p>
          <a:p>
            <a:pPr marL="171450" indent="-171450">
              <a:buFont typeface="Arial" panose="020B0604020202020204" pitchFamily="34" charset="0"/>
              <a:buChar char="•"/>
              <a:defRPr sz="1400">
                <a:solidFill>
                  <a:srgbClr val="F0F5F8"/>
                </a:solidFill>
                <a:latin typeface="Aptos"/>
              </a:defRPr>
            </a:pPr>
            <a:endParaRPr sz="1100" dirty="0">
              <a:solidFill>
                <a:schemeClr val="bg1"/>
              </a:solidFill>
              <a:latin typeface="Aptos" panose="020B0004020202020204" pitchFamily="34" charset="0"/>
            </a:endParaRP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6586EEB5-B2D4-67E0-88F6-E7A75DEB6DE6}"/>
              </a:ext>
            </a:extLst>
          </p:cNvPr>
          <p:cNvSpPr/>
          <p:nvPr/>
        </p:nvSpPr>
        <p:spPr>
          <a:xfrm>
            <a:off x="6350508" y="3044560"/>
            <a:ext cx="5440680" cy="1965960"/>
          </a:xfrm>
          <a:prstGeom prst="roundRect">
            <a:avLst/>
          </a:prstGeom>
          <a:solidFill>
            <a:srgbClr val="141C2A"/>
          </a:solidFill>
          <a:ln w="12700">
            <a:solidFill>
              <a:srgbClr val="303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297765A-9165-9204-E008-B43B1D8455B6}"/>
              </a:ext>
            </a:extLst>
          </p:cNvPr>
          <p:cNvSpPr txBox="1"/>
          <p:nvPr/>
        </p:nvSpPr>
        <p:spPr>
          <a:xfrm>
            <a:off x="6424898" y="3596657"/>
            <a:ext cx="5304722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GB" sz="1400" dirty="0">
                <a:solidFill>
                  <a:schemeClr val="bg1"/>
                </a:solidFill>
                <a:latin typeface="Aptos" panose="020B0004020202020204" pitchFamily="34" charset="0"/>
              </a:rPr>
              <a:t>Remove the current AWS-side deletion/release issue.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GB" sz="1400" dirty="0">
                <a:solidFill>
                  <a:schemeClr val="bg1"/>
                </a:solidFill>
                <a:latin typeface="Aptos" panose="020B0004020202020204" pitchFamily="34" charset="0"/>
              </a:rPr>
              <a:t>Make teardown fully reliable without the manual recovery step.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9BDED02-287C-4767-78AB-CDC3A01D3BDF}"/>
              </a:ext>
            </a:extLst>
          </p:cNvPr>
          <p:cNvSpPr txBox="1"/>
          <p:nvPr/>
        </p:nvSpPr>
        <p:spPr>
          <a:xfrm>
            <a:off x="11475720" y="6547104"/>
            <a:ext cx="4114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AAB7C0"/>
                </a:solidFill>
                <a:latin typeface="Aptos"/>
              </a:defRPr>
            </a:pPr>
            <a:r>
              <a:t>7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50284A5-9D4F-C835-14D7-7EB5837A8FB2}"/>
              </a:ext>
            </a:extLst>
          </p:cNvPr>
          <p:cNvSpPr txBox="1"/>
          <p:nvPr/>
        </p:nvSpPr>
        <p:spPr>
          <a:xfrm>
            <a:off x="1000178" y="5185020"/>
            <a:ext cx="5029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71EDCD"/>
                </a:solidFill>
                <a:latin typeface="Aptos"/>
              </a:defRPr>
            </a:pPr>
            <a:r>
              <a:rPr dirty="0"/>
              <a:t>Main lesson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4CBD317-59D0-A6D7-AEB5-2E12F9372D15}"/>
              </a:ext>
            </a:extLst>
          </p:cNvPr>
          <p:cNvSpPr txBox="1"/>
          <p:nvPr/>
        </p:nvSpPr>
        <p:spPr>
          <a:xfrm>
            <a:off x="6556248" y="3242714"/>
            <a:ext cx="2858860" cy="3539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FF8518"/>
                </a:solidFill>
                <a:latin typeface="Aptos"/>
              </a:defRPr>
            </a:pPr>
            <a:r>
              <a:rPr lang="en-US" dirty="0"/>
              <a:t>Fix NGW EIP teardown race</a:t>
            </a:r>
            <a:endParaRPr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5A9C779-81D7-F86D-B1D6-A551FF5A0EA3}"/>
              </a:ext>
            </a:extLst>
          </p:cNvPr>
          <p:cNvSpPr txBox="1"/>
          <p:nvPr/>
        </p:nvSpPr>
        <p:spPr>
          <a:xfrm>
            <a:off x="1847850" y="5478137"/>
            <a:ext cx="6932693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bg1"/>
                </a:solidFill>
                <a:latin typeface="Aptos" panose="020B0004020202020204" pitchFamily="34" charset="0"/>
              </a:rPr>
              <a:t>Least privilege is harder in practice than on paper.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400" dirty="0" err="1">
                <a:solidFill>
                  <a:schemeClr val="bg1"/>
                </a:solidFill>
                <a:latin typeface="Aptos" panose="020B0004020202020204" pitchFamily="34" charset="0"/>
              </a:rPr>
              <a:t>Checkov</a:t>
            </a:r>
            <a:r>
              <a:rPr lang="en-US" sz="1400" dirty="0">
                <a:solidFill>
                  <a:schemeClr val="bg1"/>
                </a:solidFill>
                <a:latin typeface="Aptos" panose="020B0004020202020204" pitchFamily="34" charset="0"/>
              </a:rPr>
              <a:t> forced tighter security.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bg1"/>
                </a:solidFill>
                <a:latin typeface="Aptos" panose="020B0004020202020204" pitchFamily="34" charset="0"/>
              </a:rPr>
              <a:t>IAM policy-size limits made permission design harder.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GB" sz="1400" dirty="0">
                <a:solidFill>
                  <a:schemeClr val="bg1"/>
                </a:solidFill>
                <a:latin typeface="Aptos" panose="020B0004020202020204" pitchFamily="34" charset="0"/>
              </a:rPr>
              <a:t>Test the real deployment path, not just the Terraform plan.</a:t>
            </a:r>
            <a:endParaRPr sz="1400" dirty="0">
              <a:solidFill>
                <a:schemeClr val="bg1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24686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0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54864"/>
          </a:xfrm>
          <a:prstGeom prst="rect">
            <a:avLst/>
          </a:prstGeom>
          <a:solidFill>
            <a:srgbClr val="FF8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0F5F8"/>
                </a:solidFill>
                <a:latin typeface="Aptos Display"/>
              </a:defRPr>
            </a:pPr>
            <a:r>
              <a:t>Results &amp; impact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786384"/>
            <a:ext cx="2555828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AAB7C0"/>
                </a:solidFill>
                <a:latin typeface="Aptos"/>
              </a:defRPr>
            </a:pPr>
            <a:r>
              <a:rPr dirty="0"/>
              <a:t>Evidence from the live environment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234440"/>
            <a:ext cx="2514600" cy="1325880"/>
          </a:xfrm>
          <a:prstGeom prst="roundRect">
            <a:avLst/>
          </a:prstGeom>
          <a:solidFill>
            <a:srgbClr val="141C2A"/>
          </a:solidFill>
          <a:ln w="12700">
            <a:solidFill>
              <a:srgbClr val="303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04671" y="1380744"/>
            <a:ext cx="2185416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71EDCD"/>
                </a:solidFill>
                <a:latin typeface="Aptos Display"/>
              </a:defRPr>
            </a:pPr>
            <a:r>
              <a:t>~$130.86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1" y="1901952"/>
            <a:ext cx="2185416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AAB7C0"/>
                </a:solidFill>
                <a:latin typeface="Aptos"/>
              </a:defRPr>
            </a:pPr>
            <a:r>
              <a:t>steady-state monthly projection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83280" y="1234440"/>
            <a:ext cx="2514600" cy="1325880"/>
          </a:xfrm>
          <a:prstGeom prst="roundRect">
            <a:avLst/>
          </a:prstGeom>
          <a:solidFill>
            <a:srgbClr val="141C2A"/>
          </a:solidFill>
          <a:ln w="12700">
            <a:solidFill>
              <a:srgbClr val="303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547872" y="1380744"/>
            <a:ext cx="2185416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8518"/>
                </a:solidFill>
                <a:latin typeface="Aptos Display"/>
              </a:defRPr>
            </a:pPr>
            <a:r>
              <a:t>$150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47872" y="1901952"/>
            <a:ext cx="2185416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AAB7C0"/>
                </a:solidFill>
                <a:latin typeface="Aptos"/>
              </a:defRPr>
            </a:pPr>
            <a:r>
              <a:t>monthly AWS Budget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1234440"/>
            <a:ext cx="2514600" cy="1325880"/>
          </a:xfrm>
          <a:prstGeom prst="roundRect">
            <a:avLst/>
          </a:prstGeom>
          <a:solidFill>
            <a:srgbClr val="141C2A"/>
          </a:solidFill>
          <a:ln w="12700">
            <a:solidFill>
              <a:srgbClr val="303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291072" y="1380744"/>
            <a:ext cx="2185416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68DD8C"/>
                </a:solidFill>
                <a:latin typeface="Aptos Display"/>
              </a:defRPr>
            </a:pPr>
            <a:r>
              <a:t>3/3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91072" y="1901952"/>
            <a:ext cx="2185416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AAB7C0"/>
                </a:solidFill>
                <a:latin typeface="Aptos"/>
              </a:defRPr>
            </a:pPr>
            <a:r>
              <a:t>healthy app targets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869680" y="1234440"/>
            <a:ext cx="2514600" cy="1325880"/>
          </a:xfrm>
          <a:prstGeom prst="roundRect">
            <a:avLst/>
          </a:prstGeom>
          <a:solidFill>
            <a:srgbClr val="141C2A"/>
          </a:solidFill>
          <a:ln w="12700">
            <a:solidFill>
              <a:srgbClr val="303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034272" y="1380744"/>
            <a:ext cx="2185416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DC70FF"/>
                </a:solidFill>
                <a:latin typeface="Aptos Display"/>
              </a:defRPr>
            </a:pPr>
            <a:r>
              <a:t>273/273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34272" y="1901952"/>
            <a:ext cx="2185416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AAB7C0"/>
                </a:solidFill>
                <a:latin typeface="Aptos"/>
              </a:defRPr>
            </a:pPr>
            <a:r>
              <a:t>Checkov checks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2926080"/>
            <a:ext cx="5440680" cy="2743200"/>
          </a:xfrm>
          <a:prstGeom prst="roundRect">
            <a:avLst/>
          </a:prstGeom>
          <a:solidFill>
            <a:srgbClr val="141C2A"/>
          </a:solidFill>
          <a:ln w="12700">
            <a:solidFill>
              <a:srgbClr val="303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22959" y="3035808"/>
            <a:ext cx="5074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71EDCD"/>
                </a:solidFill>
                <a:latin typeface="Aptos"/>
              </a:defRPr>
            </a:pPr>
            <a:r>
              <a:t>Live verification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7824" y="3364992"/>
            <a:ext cx="49377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F0F5F8"/>
                </a:solidFill>
                <a:latin typeface="Aptos"/>
              </a:defRPr>
            </a:pPr>
            <a:r>
              <a:rPr dirty="0"/>
              <a:t>• HTTPS endpoint returns 200 on successful paths</a:t>
            </a:r>
          </a:p>
          <a:p>
            <a:pPr>
              <a:spcAft>
                <a:spcPts val="1000"/>
              </a:spcAft>
              <a:defRPr sz="1500">
                <a:solidFill>
                  <a:srgbClr val="F0F5F8"/>
                </a:solidFill>
                <a:latin typeface="Aptos"/>
              </a:defRPr>
            </a:pPr>
            <a:r>
              <a:rPr dirty="0"/>
              <a:t>• Authenticated /me works through Redis-backed sessions</a:t>
            </a:r>
          </a:p>
          <a:p>
            <a:pPr>
              <a:spcAft>
                <a:spcPts val="1000"/>
              </a:spcAft>
              <a:defRPr sz="1500">
                <a:solidFill>
                  <a:srgbClr val="F0F5F8"/>
                </a:solidFill>
                <a:latin typeface="Aptos"/>
              </a:defRPr>
            </a:pPr>
            <a:r>
              <a:rPr dirty="0"/>
              <a:t>• First ticket purchase returns 201; duplicate returns 409</a:t>
            </a:r>
          </a:p>
          <a:p>
            <a:pPr>
              <a:spcAft>
                <a:spcPts val="1000"/>
              </a:spcAft>
              <a:defRPr sz="1500">
                <a:solidFill>
                  <a:srgbClr val="F0F5F8"/>
                </a:solidFill>
                <a:latin typeface="Aptos"/>
              </a:defRPr>
            </a:pPr>
            <a:r>
              <a:rPr dirty="0"/>
              <a:t>• Application limiter returns 429; WAF returns 403 when its threshold is crossed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55080" y="2926080"/>
            <a:ext cx="5440680" cy="2743200"/>
          </a:xfrm>
          <a:prstGeom prst="roundRect">
            <a:avLst/>
          </a:prstGeom>
          <a:solidFill>
            <a:srgbClr val="141C2A"/>
          </a:solidFill>
          <a:ln w="12700">
            <a:solidFill>
              <a:srgbClr val="303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537960" y="3035808"/>
            <a:ext cx="5074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71EDCD"/>
                </a:solidFill>
                <a:latin typeface="Aptos"/>
              </a:defRPr>
            </a:pPr>
            <a:r>
              <a:t>Business value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0" y="3364992"/>
            <a:ext cx="49377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F0F5F8"/>
                </a:solidFill>
                <a:latin typeface="Aptos"/>
              </a:defRPr>
            </a:pPr>
            <a:r>
              <a:rPr dirty="0"/>
              <a:t>• Public users reach a secure ticketing service</a:t>
            </a:r>
          </a:p>
          <a:p>
            <a:pPr>
              <a:spcAft>
                <a:spcPts val="1000"/>
              </a:spcAft>
              <a:defRPr sz="1500">
                <a:solidFill>
                  <a:srgbClr val="F0F5F8"/>
                </a:solidFill>
                <a:latin typeface="Aptos"/>
              </a:defRPr>
            </a:pPr>
            <a:r>
              <a:rPr dirty="0"/>
              <a:t>• App capacity can scale from 3 to 6 instances</a:t>
            </a:r>
          </a:p>
          <a:p>
            <a:pPr>
              <a:spcAft>
                <a:spcPts val="1000"/>
              </a:spcAft>
              <a:defRPr sz="1500">
                <a:solidFill>
                  <a:srgbClr val="F0F5F8"/>
                </a:solidFill>
                <a:latin typeface="Aptos"/>
              </a:defRPr>
            </a:pPr>
            <a:r>
              <a:rPr dirty="0"/>
              <a:t>• Infrastructure changes are reviewed and automated</a:t>
            </a:r>
          </a:p>
          <a:p>
            <a:pPr>
              <a:spcAft>
                <a:spcPts val="1000"/>
              </a:spcAft>
              <a:defRPr sz="1500">
                <a:solidFill>
                  <a:srgbClr val="F0F5F8"/>
                </a:solidFill>
                <a:latin typeface="Aptos"/>
              </a:defRPr>
            </a:pPr>
            <a:r>
              <a:rPr dirty="0"/>
              <a:t>• Cost can be controlled by tearing down billable resources between sessions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475720" y="6547104"/>
            <a:ext cx="4114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AAB7C0"/>
                </a:solidFill>
                <a:latin typeface="Aptos"/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0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54864"/>
          </a:xfrm>
          <a:prstGeom prst="rect">
            <a:avLst/>
          </a:prstGeom>
          <a:solidFill>
            <a:srgbClr val="FF8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31520" y="960120"/>
            <a:ext cx="5486400" cy="4937760"/>
          </a:xfrm>
          <a:prstGeom prst="roundRect">
            <a:avLst/>
          </a:prstGeom>
          <a:solidFill>
            <a:srgbClr val="141C2A"/>
          </a:solidFill>
          <a:ln w="12700">
            <a:solidFill>
              <a:srgbClr val="303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51560" y="1417320"/>
            <a:ext cx="47548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71EDCD"/>
                </a:solidFill>
                <a:latin typeface="Aptos Display"/>
              </a:defRPr>
            </a:pPr>
            <a:r>
              <a:t>Bouncer in one sentence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2468880"/>
            <a:ext cx="4550028" cy="11079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F0F5F8"/>
                </a:solidFill>
                <a:latin typeface="Aptos"/>
              </a:defRPr>
            </a:pPr>
            <a:r>
              <a:rPr lang="en-US" dirty="0"/>
              <a:t>A</a:t>
            </a:r>
            <a:r>
              <a:rPr dirty="0"/>
              <a:t> ticketing platform </a:t>
            </a:r>
            <a:br>
              <a:rPr lang="en-US" dirty="0"/>
            </a:br>
            <a:r>
              <a:rPr dirty="0"/>
              <a:t>that balances security, automation, </a:t>
            </a:r>
            <a:br>
              <a:rPr lang="en-US" dirty="0"/>
            </a:br>
            <a:r>
              <a:rPr dirty="0"/>
              <a:t>observability, and cost control.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4892040"/>
            <a:ext cx="4572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8518"/>
                </a:solidFill>
                <a:latin typeface="Aptos Display"/>
              </a:defRPr>
            </a:pPr>
            <a:r>
              <a:t>Questions?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75720" y="6547104"/>
            <a:ext cx="4114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AAB7C0"/>
                </a:solidFill>
                <a:latin typeface="Aptos"/>
              </a:defRPr>
            </a:pPr>
            <a:r>
              <a:t>9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D3766F6-8F2C-EC4E-D5B7-B9A412A05D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710011"/>
            <a:ext cx="5974079" cy="398661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821</TotalTime>
  <Words>763</Words>
  <Application>Microsoft Office PowerPoint</Application>
  <PresentationFormat>Widescreen</PresentationFormat>
  <Paragraphs>132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Bálint Lojt</cp:lastModifiedBy>
  <cp:revision>1</cp:revision>
  <dcterms:created xsi:type="dcterms:W3CDTF">2013-01-27T09:14:16Z</dcterms:created>
  <dcterms:modified xsi:type="dcterms:W3CDTF">2026-09-04T08:47:01Z</dcterms:modified>
  <cp:category/>
</cp:coreProperties>
</file>